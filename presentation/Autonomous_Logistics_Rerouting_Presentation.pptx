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GPT-5</c:v>
                </c:pt>
              </c:strCache>
            </c:strRef>
          </c:tx>
          <c:spPr>
            <a:solidFill>
              <a:srgbClr val="1E2761"/>
            </a:solidFill>
            <a:ln w="28575" cap="flat">
              <a:solidFill>
                <a:srgbClr val="1E2761"/>
              </a:solidFill>
              <a:prstDash val="solid"/>
              <a:round/>
            </a:ln>
            <a:effectLst/>
          </c:spPr>
          <c:invertIfNegative val="0"/>
          <c:marker>
            <c:symbol val="circle"/>
            <c:size val="5"/>
            <c:spPr>
              <a:solidFill>
                <a:srgbClr val="1E2761"/>
              </a:solidFill>
              <a:ln w="9525" cap="flat">
                <a:solidFill>
                  <a:srgbClr val="1E2761"/>
                </a:solidFill>
                <a:prstDash val="solid"/>
                <a:round/>
              </a:ln>
              <a:effectLst/>
            </c:spPr>
          </c:marker>
          <c:cat>
            <c:multiLvlStrRef>
              <c:f>Sheet1!$A$2:$A$7</c:f>
              <c:multiLvlStrCache>
                <c:ptCount val="6"/>
                <c:lvl>
                  <c:pt idx="0">
                    <c:v>Reasoning</c:v>
                  </c:pt>
                  <c:pt idx="1">
                    <c:v>Tool Calling</c:v>
                  </c:pt>
                  <c:pt idx="2">
                    <c:v>Planning</c:v>
                  </c:pt>
                  <c:pt idx="3">
                    <c:v>Error Recovery</c:v>
                  </c:pt>
                  <c:pt idx="4">
                    <c:v>Workflow
Completion</c:v>
                  </c:pt>
                  <c:pt idx="5">
                    <c:v>Decision
Consistency</c:v>
                  </c:pt>
                </c:lvl>
              </c:multiLvlStrCache>
            </c:multiLvlStrRef>
          </c:cat>
          <c:val>
            <c:numRef>
              <c:f>Sheet1!$B$2:$B$7</c:f>
              <c:numCache>
                <c:formatCode>General</c:formatCode>
                <c:ptCount val="6"/>
                <c:pt idx="0">
                  <c:v>5</c:v>
                </c:pt>
                <c:pt idx="1">
                  <c:v>5</c:v>
                </c:pt>
                <c:pt idx="2">
                  <c:v>4.8</c:v>
                </c:pt>
                <c:pt idx="3">
                  <c:v>4.7</c:v>
                </c:pt>
                <c:pt idx="4">
                  <c:v>4.9</c:v>
                </c:pt>
                <c:pt idx="5">
                  <c:v>4.8</c:v>
                </c:pt>
              </c:numCache>
            </c:numRef>
          </c:val>
        </c:ser>
        <c:ser>
          <c:idx val="1"/>
          <c:order val="1"/>
          <c:tx>
            <c:strRef>
              <c:f>Sheet1!$C$1</c:f>
              <c:strCache>
                <c:ptCount val="1"/>
                <c:pt idx="0">
                  <c:v>Llama 3.3 70B</c:v>
                </c:pt>
              </c:strCache>
            </c:strRef>
          </c:tx>
          <c:spPr>
            <a:solidFill>
              <a:srgbClr val="F2A93B"/>
            </a:solidFill>
            <a:ln w="28575" cap="flat">
              <a:solidFill>
                <a:srgbClr val="F2A93B"/>
              </a:solidFill>
              <a:prstDash val="solid"/>
              <a:round/>
            </a:ln>
            <a:effectLst/>
          </c:spPr>
          <c:invertIfNegative val="0"/>
          <c:marker>
            <c:symbol val="circle"/>
            <c:size val="5"/>
            <c:spPr>
              <a:solidFill>
                <a:srgbClr val="F2A93B"/>
              </a:solidFill>
              <a:ln w="9525" cap="flat">
                <a:solidFill>
                  <a:srgbClr val="F2A93B"/>
                </a:solidFill>
                <a:prstDash val="solid"/>
                <a:round/>
              </a:ln>
              <a:effectLst/>
            </c:spPr>
          </c:marker>
          <c:cat>
            <c:multiLvlStrRef>
              <c:f>Sheet1!$A$2:$A$7</c:f>
              <c:multiLvlStrCache>
                <c:ptCount val="6"/>
                <c:lvl>
                  <c:pt idx="0">
                    <c:v>Reasoning</c:v>
                  </c:pt>
                  <c:pt idx="1">
                    <c:v>Tool Calling</c:v>
                  </c:pt>
                  <c:pt idx="2">
                    <c:v>Planning</c:v>
                  </c:pt>
                  <c:pt idx="3">
                    <c:v>Error Recovery</c:v>
                  </c:pt>
                  <c:pt idx="4">
                    <c:v>Workflow
Completion</c:v>
                  </c:pt>
                  <c:pt idx="5">
                    <c:v>Decision
Consistency</c:v>
                  </c:pt>
                </c:lvl>
              </c:multiLvlStrCache>
            </c:multiLvlStrRef>
          </c:cat>
          <c:val>
            <c:numRef>
              <c:f>Sheet1!$C$2:$C$7</c:f>
              <c:numCache>
                <c:formatCode>General</c:formatCode>
                <c:ptCount val="6"/>
                <c:pt idx="0">
                  <c:v>4.1</c:v>
                </c:pt>
                <c:pt idx="1">
                  <c:v>4</c:v>
                </c:pt>
                <c:pt idx="2">
                  <c:v>3.9</c:v>
                </c:pt>
                <c:pt idx="3">
                  <c:v>3.4</c:v>
                </c:pt>
                <c:pt idx="4">
                  <c:v>4</c:v>
                </c:pt>
                <c:pt idx="5">
                  <c:v>3.9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340"/>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C7599"/>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1B234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Frame this as a 15-minute executive briefing that answers one business question: can Llama 3.3 70B replace GPT-5 in a production logistics-rerouting workflow? Set expectations: we'll walk through the business problem, the multi-agent system we built in LangGraph, how we evaluated the two models using trajectory-based analysis (not just final answers), and end with a concrete, hybrid recommendation. Emphasize this mirrors how we'd actually evaluate a model swap for a production AI system at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context: logistics delays are common, and each one triggers a cascade of manual decisions — which carrier to switch to, what it costs, how reliable they are, and who needs to be told. At scale, this can't be done manually. This is the exact kind of workflow that's a strong candidate for agentic automation: high volume, well-defined decision criteria, and a clear cost of inaction. The stat card is illustrative to ground the problem in dollars and time — call out that speed of decision directly protects margin and customer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objectives structure the whole deck: research (trajectory evaluation of GPT-5 vs Llama), build (the LangGraph multi-agent system), and recommend (turn findings into a decision leadership can act on). Keep this slide brief — it's a map for the next ten minutes, not a place to go deep. You'll notice the rest of the deck is organized in exactly this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graph left to right. Telemetry Alert is the entry node — it's a lightweight detector, not an LLM call, that watches shipment feeds and flags a delay. That triggers the Decision Agent, the reasoning core: it calls tools to pull alternate carriers, compares ETA/cost/reliability, and picks a route — this is where the GPT-5 vs Llama comparison actually matters. The Execution Agent then acts on that decision: rebooks, updates the system of record, and notifies stakeholders. The key LangGraph detail is the shared state object at the bottom — every node reads and writes the same typed state, which is what gives us error recovery and a full audit trail instead of three disconnected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trajectory-based evaluation up front: instead of only checking if the final rerouting decision was correct, we score the entire reasoning trajectory the agent takes to get there, across six dimensions. This matters because two models can land on the same carrier choice while one gets there through sound, auditable reasoning and the other gets there through a lucky guess or a masked tool failure — and only one of those is safe to deploy unsupervised. Briefly touch each of the six dimensions; the next two slides put GPT-5 and Llama 3.3 through this exact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direct, side-by-side read-out across the same five practical dimensions for both models. Key framing: GPT-5 leads on reasoning depth, tool orchestration, and error handling — the dimensions that matter most for autonomous, unsupervised decisions. Llama 3.3 wins decisively on cost, latency, and data control, since it runs entirely inside our own infrastructure. Neither column is 'better' in isolation — this sets up the trade-off discussion and the hybrid recommendation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radar chart: GPT-5's shape is nearly a full pentagon—hexagon, close to the maximum on every axis. Llama 3.3's shape pulls inward most on error recovery and decision consistency — the two dimensions that matter most once an agent is running unsupervised in production. Reiterate clearly that these are illustrative demonstration benchmarks built for this assessment, not published vendor numbers, and that the shape of the gap — not the exact values — is the takeaway: Llama is closer on raw reasoning than most people assume, and further behind specifically on resilience.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makes the trade-off concrete and operational rather than abstract. GPT-5 wins on raw capability and requires zero infrastructure investment, but every request leaves your network and costs more per token. Llama 3.3 gives up some reasoning ceiling but wins on cost, latency, customization, and — critically for logistics data — data residency. Land on the callout: this isn't a strictly-better-or-worse comparison, it's a classic centralize-intelligence vs. control-cost trade-off, which is exactly the framing that leads into the hybrid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fast-paced glossary tour — spend roughly five seconds per tile rather than reading each description aloud. The throughline: LangGraph and graph-based state give the system structure and memory; multi-agent orchestration and tool calling give it capability; self-healing, monitoring, and process mining give it resilience; and human-in-the-loop, RAG, and structured outputs keep it safe and auditable. Together these are what separate a 'proactive autonomous agent' from a single chatbot prompt — the rerouting system on the previous slides uses nearly all twelve.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central business question directly: no, Llama 3.3 should not fully replace GPT-5 today — but it can and should handle the majority of the workload. The hybrid architecture routes by decision risk: routine, well-scoped reroutes — which make up most shipment volume — run on Llama 3.3 for speed, cost, and data privacy; high-value, novel, or low-confidence cases escalate to GPT-5 as a reasoning safety net. This gets most of the cost and privacy benefit of open-source while keeping GPT-5's reliability where it matters most. Emphasize this is a routing decision, not a wholesale platform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in priority order. Phase 1 ships the hybrid router itself with a real confidence score, not a static rule. Phase 2 adds human-in-the-loop guardrails and audit logging — essential before this touches high-value shipments in production. Phase 3 is the long-term cost play: fine-tune Llama 3.3 on our own historical rerouting decisions to close the reasoning gap over time, which should let more traffic shift away from GPT-5 without a reliability trade-off. Frame this as a roadmap the team could start on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single-sentence recommendation on screen: a hybrid GPT-5 / Llama 3.3 architecture, routed by decision risk, gives most of open-source's cost and privacy benefit while keeping GPT-5's reliability where it matters most. Open the floor for questions — be ready to go deeper on the LangGraph state schema, the trajectory scoring rubric, or the cost model behind the hybrid router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4.png"/><Relationship Id="rId5" Type="http://schemas.openxmlformats.org/officeDocument/2006/relationships/image" Target="../media/image-10-4.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235440" y="-2011680"/>
            <a:ext cx="5943600" cy="5943600"/>
          </a:xfrm>
          <a:prstGeom prst="ellipse">
            <a:avLst/>
          </a:prstGeom>
          <a:solidFill>
            <a:srgbClr val="141B49"/>
          </a:solidFill>
          <a:ln/>
        </p:spPr>
      </p:sp>
      <p:sp>
        <p:nvSpPr>
          <p:cNvPr id="3" name="Shape 1"/>
          <p:cNvSpPr/>
          <p:nvPr/>
        </p:nvSpPr>
        <p:spPr>
          <a:xfrm>
            <a:off x="10607040" y="3931920"/>
            <a:ext cx="3840480" cy="3840480"/>
          </a:xfrm>
          <a:prstGeom prst="ellipse">
            <a:avLst/>
          </a:prstGeom>
          <a:solidFill>
            <a:srgbClr val="141B49"/>
          </a:solidFill>
          <a:ln/>
        </p:spPr>
      </p:sp>
      <p:sp>
        <p:nvSpPr>
          <p:cNvPr id="4" name="Text 2"/>
          <p:cNvSpPr/>
          <p:nvPr/>
        </p:nvSpPr>
        <p:spPr>
          <a:xfrm>
            <a:off x="640080" y="1417320"/>
            <a:ext cx="8229600" cy="320040"/>
          </a:xfrm>
          <a:prstGeom prst="rect">
            <a:avLst/>
          </a:prstGeom>
          <a:noFill/>
          <a:ln/>
        </p:spPr>
        <p:txBody>
          <a:bodyPr wrap="square" lIns="0" tIns="0" rIns="0" bIns="0" rtlCol="0" anchor="ctr"/>
          <a:lstStyle/>
          <a:p>
            <a:pPr indent="0" marL="0">
              <a:buNone/>
            </a:pPr>
            <a:r>
              <a:rPr lang="en-US" sz="1300" b="1" spc="250" kern="0" dirty="0">
                <a:solidFill>
                  <a:srgbClr val="F2A93B"/>
                </a:solidFill>
                <a:latin typeface="Calibri" pitchFamily="34" charset="0"/>
                <a:ea typeface="Calibri" pitchFamily="34" charset="-122"/>
                <a:cs typeface="Calibri" pitchFamily="34" charset="-120"/>
              </a:rPr>
              <a:t>AI RESEARCHER INTERN  •  TAKE-HOME ASSESSMENT</a:t>
            </a:r>
            <a:endParaRPr lang="en-US" sz="1300" dirty="0"/>
          </a:p>
        </p:txBody>
      </p:sp>
      <p:sp>
        <p:nvSpPr>
          <p:cNvPr id="5" name="Text 3"/>
          <p:cNvSpPr/>
          <p:nvPr/>
        </p:nvSpPr>
        <p:spPr>
          <a:xfrm>
            <a:off x="594360" y="1874520"/>
            <a:ext cx="960120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Autonomous Logistics Rerouting</a:t>
            </a:r>
            <a:endParaRPr lang="en-US" sz="4400" dirty="0"/>
          </a:p>
        </p:txBody>
      </p:sp>
      <p:sp>
        <p:nvSpPr>
          <p:cNvPr id="6" name="Text 4"/>
          <p:cNvSpPr/>
          <p:nvPr/>
        </p:nvSpPr>
        <p:spPr>
          <a:xfrm>
            <a:off x="621792" y="2788920"/>
            <a:ext cx="9601200" cy="548640"/>
          </a:xfrm>
          <a:prstGeom prst="rect">
            <a:avLst/>
          </a:prstGeom>
          <a:noFill/>
          <a:ln/>
        </p:spPr>
        <p:txBody>
          <a:bodyPr wrap="square" lIns="0" tIns="0" rIns="0" bIns="0" rtlCol="0" anchor="ctr"/>
          <a:lstStyle/>
          <a:p>
            <a:pPr indent="0" marL="0">
              <a:buNone/>
            </a:pPr>
            <a:r>
              <a:rPr lang="en-US" sz="2200" i="1" dirty="0">
                <a:solidFill>
                  <a:srgbClr val="CADCFC"/>
                </a:solidFill>
                <a:latin typeface="Cambria" pitchFamily="34" charset="0"/>
                <a:ea typeface="Cambria" pitchFamily="34" charset="-122"/>
                <a:cs typeface="Cambria" pitchFamily="34" charset="-120"/>
              </a:rPr>
              <a:t>A Multi-Agent AI System Built on LangGraph</a:t>
            </a:r>
            <a:endParaRPr lang="en-US" sz="2200" dirty="0"/>
          </a:p>
        </p:txBody>
      </p:sp>
      <p:sp>
        <p:nvSpPr>
          <p:cNvPr id="7" name="Shape 5"/>
          <p:cNvSpPr/>
          <p:nvPr/>
        </p:nvSpPr>
        <p:spPr>
          <a:xfrm>
            <a:off x="640080" y="3520440"/>
            <a:ext cx="3291840" cy="0"/>
          </a:xfrm>
          <a:prstGeom prst="line">
            <a:avLst/>
          </a:prstGeom>
          <a:noFill/>
          <a:ln w="25400">
            <a:solidFill>
              <a:srgbClr val="F2A93B"/>
            </a:solidFill>
            <a:prstDash val="solid"/>
          </a:ln>
        </p:spPr>
      </p:sp>
      <p:sp>
        <p:nvSpPr>
          <p:cNvPr id="8" name="Text 6"/>
          <p:cNvSpPr/>
          <p:nvPr/>
        </p:nvSpPr>
        <p:spPr>
          <a:xfrm>
            <a:off x="621792" y="3703320"/>
            <a:ext cx="7863840" cy="777240"/>
          </a:xfrm>
          <a:prstGeom prst="rect">
            <a:avLst/>
          </a:prstGeom>
          <a:noFill/>
          <a:ln/>
        </p:spPr>
        <p:txBody>
          <a:bodyPr wrap="square" lIns="0" tIns="0" rIns="0" bIns="0" rtlCol="0" anchor="ctr"/>
          <a:lstStyle/>
          <a:p>
            <a:pPr indent="0" marL="0">
              <a:lnSpc>
                <a:spcPct val="125000"/>
              </a:lnSpc>
              <a:buNone/>
            </a:pPr>
            <a:r>
              <a:rPr lang="en-US" sz="1400" dirty="0">
                <a:solidFill>
                  <a:srgbClr val="C9D2F0"/>
                </a:solidFill>
                <a:latin typeface="Calibri" pitchFamily="34" charset="0"/>
                <a:ea typeface="Calibri" pitchFamily="34" charset="-122"/>
                <a:cs typeface="Calibri" pitchFamily="34" charset="-120"/>
              </a:rPr>
              <a:t>Trajectory-based evaluation of GPT-5 (closed-source) vs. Llama 3.3 70B (open-source) as the reasoning core of a production rerouting workflow.</a:t>
            </a:r>
            <a:endParaRPr lang="en-US" sz="1400" dirty="0"/>
          </a:p>
        </p:txBody>
      </p:sp>
      <p:sp>
        <p:nvSpPr>
          <p:cNvPr id="9" name="Text 7"/>
          <p:cNvSpPr/>
          <p:nvPr/>
        </p:nvSpPr>
        <p:spPr>
          <a:xfrm>
            <a:off x="621792" y="5349240"/>
            <a:ext cx="3017520" cy="274320"/>
          </a:xfrm>
          <a:prstGeom prst="rect">
            <a:avLst/>
          </a:prstGeom>
          <a:noFill/>
          <a:ln/>
        </p:spPr>
        <p:txBody>
          <a:bodyPr wrap="square" lIns="0" tIns="0" rIns="0" bIns="0" rtlCol="0" anchor="ctr"/>
          <a:lstStyle/>
          <a:p>
            <a:pPr indent="0" marL="0">
              <a:buNone/>
            </a:pPr>
            <a:r>
              <a:rPr lang="en-US" sz="1000" b="1" spc="150" kern="0" dirty="0">
                <a:solidFill>
                  <a:srgbClr val="F2A93B"/>
                </a:solidFill>
                <a:latin typeface="Calibri" pitchFamily="34" charset="0"/>
                <a:ea typeface="Calibri" pitchFamily="34" charset="-122"/>
                <a:cs typeface="Calibri" pitchFamily="34" charset="-120"/>
              </a:rPr>
              <a:t>PREPARED FOR</a:t>
            </a:r>
            <a:endParaRPr lang="en-US" sz="1000" dirty="0"/>
          </a:p>
        </p:txBody>
      </p:sp>
      <p:sp>
        <p:nvSpPr>
          <p:cNvPr id="10" name="Text 8"/>
          <p:cNvSpPr/>
          <p:nvPr/>
        </p:nvSpPr>
        <p:spPr>
          <a:xfrm>
            <a:off x="621792" y="5605272"/>
            <a:ext cx="310896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Engineering &amp; Product Leadership</a:t>
            </a:r>
            <a:endParaRPr lang="en-US" sz="1250" dirty="0"/>
          </a:p>
        </p:txBody>
      </p:sp>
      <p:sp>
        <p:nvSpPr>
          <p:cNvPr id="11" name="Text 9"/>
          <p:cNvSpPr/>
          <p:nvPr/>
        </p:nvSpPr>
        <p:spPr>
          <a:xfrm>
            <a:off x="3867912" y="5349240"/>
            <a:ext cx="3017520" cy="274320"/>
          </a:xfrm>
          <a:prstGeom prst="rect">
            <a:avLst/>
          </a:prstGeom>
          <a:noFill/>
          <a:ln/>
        </p:spPr>
        <p:txBody>
          <a:bodyPr wrap="square" lIns="0" tIns="0" rIns="0" bIns="0" rtlCol="0" anchor="ctr"/>
          <a:lstStyle/>
          <a:p>
            <a:pPr indent="0" marL="0">
              <a:buNone/>
            </a:pPr>
            <a:r>
              <a:rPr lang="en-US" sz="1000" b="1" spc="150" kern="0" dirty="0">
                <a:solidFill>
                  <a:srgbClr val="F2A93B"/>
                </a:solidFill>
                <a:latin typeface="Calibri" pitchFamily="34" charset="0"/>
                <a:ea typeface="Calibri" pitchFamily="34" charset="-122"/>
                <a:cs typeface="Calibri" pitchFamily="34" charset="-120"/>
              </a:rPr>
              <a:t>FORMAT</a:t>
            </a:r>
            <a:endParaRPr lang="en-US" sz="1000" dirty="0"/>
          </a:p>
        </p:txBody>
      </p:sp>
      <p:sp>
        <p:nvSpPr>
          <p:cNvPr id="12" name="Text 10"/>
          <p:cNvSpPr/>
          <p:nvPr/>
        </p:nvSpPr>
        <p:spPr>
          <a:xfrm>
            <a:off x="3867912" y="5605272"/>
            <a:ext cx="310896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15-Minute Executive Briefing</a:t>
            </a:r>
            <a:endParaRPr lang="en-US" sz="1250" dirty="0"/>
          </a:p>
        </p:txBody>
      </p:sp>
      <p:sp>
        <p:nvSpPr>
          <p:cNvPr id="13" name="Text 11"/>
          <p:cNvSpPr/>
          <p:nvPr/>
        </p:nvSpPr>
        <p:spPr>
          <a:xfrm>
            <a:off x="7114032" y="5349240"/>
            <a:ext cx="3017520" cy="274320"/>
          </a:xfrm>
          <a:prstGeom prst="rect">
            <a:avLst/>
          </a:prstGeom>
          <a:noFill/>
          <a:ln/>
        </p:spPr>
        <p:txBody>
          <a:bodyPr wrap="square" lIns="0" tIns="0" rIns="0" bIns="0" rtlCol="0" anchor="ctr"/>
          <a:lstStyle/>
          <a:p>
            <a:pPr indent="0" marL="0">
              <a:buNone/>
            </a:pPr>
            <a:r>
              <a:rPr lang="en-US" sz="1000" b="1" spc="150" kern="0" dirty="0">
                <a:solidFill>
                  <a:srgbClr val="F2A93B"/>
                </a:solidFill>
                <a:latin typeface="Calibri" pitchFamily="34" charset="0"/>
                <a:ea typeface="Calibri" pitchFamily="34" charset="-122"/>
                <a:cs typeface="Calibri" pitchFamily="34" charset="-120"/>
              </a:rPr>
              <a:t>SCOPE</a:t>
            </a:r>
            <a:endParaRPr lang="en-US" sz="1000" dirty="0"/>
          </a:p>
        </p:txBody>
      </p:sp>
      <p:sp>
        <p:nvSpPr>
          <p:cNvPr id="14" name="Text 12"/>
          <p:cNvSpPr/>
          <p:nvPr/>
        </p:nvSpPr>
        <p:spPr>
          <a:xfrm>
            <a:off x="7114032" y="5605272"/>
            <a:ext cx="310896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Research  •  System Design  •  Recommendation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F2A93B"/>
                </a:solidFill>
                <a:latin typeface="Calibri" pitchFamily="34" charset="0"/>
                <a:ea typeface="Calibri" pitchFamily="34" charset="-122"/>
                <a:cs typeface="Calibri" pitchFamily="34" charset="-120"/>
              </a:rPr>
              <a:t>THE BUSINESS PROBLEM</a:t>
            </a:r>
            <a:endParaRPr lang="en-US" sz="125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When a shipment slips, every minute of</a:t>
            </a:r>
            <a:endParaRPr lang="en-US" sz="3000" dirty="0"/>
          </a:p>
          <a:p>
            <a:pPr indent="0" marL="0">
              <a:buNone/>
            </a:pPr>
            <a:r>
              <a:rPr lang="en-US" sz="3000" b="1" dirty="0">
                <a:solidFill>
                  <a:srgbClr val="1E2761"/>
                </a:solidFill>
                <a:latin typeface="Cambria" pitchFamily="34" charset="0"/>
                <a:ea typeface="Cambria" pitchFamily="34" charset="-122"/>
                <a:cs typeface="Cambria" pitchFamily="34" charset="-120"/>
              </a:rPr>
              <a:t>indecision compounds the cost</a:t>
            </a:r>
            <a:endParaRPr lang="en-US" sz="3000" dirty="0"/>
          </a:p>
        </p:txBody>
      </p:sp>
      <p:sp>
        <p:nvSpPr>
          <p:cNvPr id="4" name="Shape 2"/>
          <p:cNvSpPr/>
          <p:nvPr/>
        </p:nvSpPr>
        <p:spPr>
          <a:xfrm>
            <a:off x="566928" y="1901952"/>
            <a:ext cx="100584" cy="100584"/>
          </a:xfrm>
          <a:prstGeom prst="ellipse">
            <a:avLst/>
          </a:prstGeom>
          <a:solidFill>
            <a:srgbClr val="F2A93B"/>
          </a:solidFill>
          <a:ln/>
        </p:spPr>
      </p:sp>
      <p:sp>
        <p:nvSpPr>
          <p:cNvPr id="5" name="Text 3"/>
          <p:cNvSpPr/>
          <p:nvPr/>
        </p:nvSpPr>
        <p:spPr>
          <a:xfrm>
            <a:off x="822960" y="1764792"/>
            <a:ext cx="6126480" cy="32004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Delay signals arrive continuously</a:t>
            </a:r>
            <a:endParaRPr lang="en-US" sz="1550" dirty="0"/>
          </a:p>
        </p:txBody>
      </p:sp>
      <p:sp>
        <p:nvSpPr>
          <p:cNvPr id="6" name="Text 4"/>
          <p:cNvSpPr/>
          <p:nvPr/>
        </p:nvSpPr>
        <p:spPr>
          <a:xfrm>
            <a:off x="822960" y="2093976"/>
            <a:ext cx="6126480" cy="502920"/>
          </a:xfrm>
          <a:prstGeom prst="rect">
            <a:avLst/>
          </a:prstGeom>
          <a:noFill/>
          <a:ln/>
        </p:spPr>
        <p:txBody>
          <a:bodyPr wrap="square" lIns="0" tIns="0" rIns="0" bIns="0" rtlCol="0" anchor="ctr"/>
          <a:lstStyle/>
          <a:p>
            <a:pPr indent="0" marL="0">
              <a:lnSpc>
                <a:spcPct val="120000"/>
              </a:lnSpc>
              <a:buNone/>
            </a:pPr>
            <a:r>
              <a:rPr lang="en-US" sz="1250" dirty="0">
                <a:solidFill>
                  <a:srgbClr val="6C7599"/>
                </a:solidFill>
                <a:latin typeface="Calibri" pitchFamily="34" charset="0"/>
                <a:ea typeface="Calibri" pitchFamily="34" charset="-122"/>
                <a:cs typeface="Calibri" pitchFamily="34" charset="-120"/>
              </a:rPr>
              <a:t>Telemetry from carriers, GPS, and customs feeds flag at-risk shipments in real time.</a:t>
            </a:r>
            <a:endParaRPr lang="en-US" sz="1250" dirty="0"/>
          </a:p>
        </p:txBody>
      </p:sp>
      <p:sp>
        <p:nvSpPr>
          <p:cNvPr id="7" name="Shape 5"/>
          <p:cNvSpPr/>
          <p:nvPr/>
        </p:nvSpPr>
        <p:spPr>
          <a:xfrm>
            <a:off x="566928" y="2862072"/>
            <a:ext cx="100584" cy="100584"/>
          </a:xfrm>
          <a:prstGeom prst="ellipse">
            <a:avLst/>
          </a:prstGeom>
          <a:solidFill>
            <a:srgbClr val="F2A93B"/>
          </a:solidFill>
          <a:ln/>
        </p:spPr>
      </p:sp>
      <p:sp>
        <p:nvSpPr>
          <p:cNvPr id="8" name="Text 6"/>
          <p:cNvSpPr/>
          <p:nvPr/>
        </p:nvSpPr>
        <p:spPr>
          <a:xfrm>
            <a:off x="822960" y="2724912"/>
            <a:ext cx="6126480" cy="32004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Rerouting decisions are high-stakes</a:t>
            </a:r>
            <a:endParaRPr lang="en-US" sz="1550" dirty="0"/>
          </a:p>
        </p:txBody>
      </p:sp>
      <p:sp>
        <p:nvSpPr>
          <p:cNvPr id="9" name="Text 7"/>
          <p:cNvSpPr/>
          <p:nvPr/>
        </p:nvSpPr>
        <p:spPr>
          <a:xfrm>
            <a:off x="822960" y="3054096"/>
            <a:ext cx="6126480" cy="502920"/>
          </a:xfrm>
          <a:prstGeom prst="rect">
            <a:avLst/>
          </a:prstGeom>
          <a:noFill/>
          <a:ln/>
        </p:spPr>
        <p:txBody>
          <a:bodyPr wrap="square" lIns="0" tIns="0" rIns="0" bIns="0" rtlCol="0" anchor="ctr"/>
          <a:lstStyle/>
          <a:p>
            <a:pPr indent="0" marL="0">
              <a:lnSpc>
                <a:spcPct val="120000"/>
              </a:lnSpc>
              <a:buNone/>
            </a:pPr>
            <a:r>
              <a:rPr lang="en-US" sz="1250" dirty="0">
                <a:solidFill>
                  <a:srgbClr val="6C7599"/>
                </a:solidFill>
                <a:latin typeface="Calibri" pitchFamily="34" charset="0"/>
                <a:ea typeface="Calibri" pitchFamily="34" charset="-122"/>
                <a:cs typeface="Calibri" pitchFamily="34" charset="-120"/>
              </a:rPr>
              <a:t>Carrier, ETA, cost, and reliability must be weighed together — in minutes, not hours.</a:t>
            </a:r>
            <a:endParaRPr lang="en-US" sz="1250" dirty="0"/>
          </a:p>
        </p:txBody>
      </p:sp>
      <p:sp>
        <p:nvSpPr>
          <p:cNvPr id="10" name="Shape 8"/>
          <p:cNvSpPr/>
          <p:nvPr/>
        </p:nvSpPr>
        <p:spPr>
          <a:xfrm>
            <a:off x="566928" y="3822192"/>
            <a:ext cx="100584" cy="100584"/>
          </a:xfrm>
          <a:prstGeom prst="ellipse">
            <a:avLst/>
          </a:prstGeom>
          <a:solidFill>
            <a:srgbClr val="F2A93B"/>
          </a:solidFill>
          <a:ln/>
        </p:spPr>
      </p:sp>
      <p:sp>
        <p:nvSpPr>
          <p:cNvPr id="11" name="Text 9"/>
          <p:cNvSpPr/>
          <p:nvPr/>
        </p:nvSpPr>
        <p:spPr>
          <a:xfrm>
            <a:off x="822960" y="3685032"/>
            <a:ext cx="6126480" cy="32004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Manual triage doesn't scale</a:t>
            </a:r>
            <a:endParaRPr lang="en-US" sz="1550" dirty="0"/>
          </a:p>
        </p:txBody>
      </p:sp>
      <p:sp>
        <p:nvSpPr>
          <p:cNvPr id="12" name="Text 10"/>
          <p:cNvSpPr/>
          <p:nvPr/>
        </p:nvSpPr>
        <p:spPr>
          <a:xfrm>
            <a:off x="822960" y="4014216"/>
            <a:ext cx="6126480" cy="502920"/>
          </a:xfrm>
          <a:prstGeom prst="rect">
            <a:avLst/>
          </a:prstGeom>
          <a:noFill/>
          <a:ln/>
        </p:spPr>
        <p:txBody>
          <a:bodyPr wrap="square" lIns="0" tIns="0" rIns="0" bIns="0" rtlCol="0" anchor="ctr"/>
          <a:lstStyle/>
          <a:p>
            <a:pPr indent="0" marL="0">
              <a:lnSpc>
                <a:spcPct val="120000"/>
              </a:lnSpc>
              <a:buNone/>
            </a:pPr>
            <a:r>
              <a:rPr lang="en-US" sz="1250" dirty="0">
                <a:solidFill>
                  <a:srgbClr val="6C7599"/>
                </a:solidFill>
                <a:latin typeface="Calibri" pitchFamily="34" charset="0"/>
                <a:ea typeface="Calibri" pitchFamily="34" charset="-122"/>
                <a:cs typeface="Calibri" pitchFamily="34" charset="-120"/>
              </a:rPr>
              <a:t>Ops teams can't evaluate every alternative carrier by hand across a growing shipment volume.</a:t>
            </a:r>
            <a:endParaRPr lang="en-US" sz="1250" dirty="0"/>
          </a:p>
        </p:txBody>
      </p:sp>
      <p:sp>
        <p:nvSpPr>
          <p:cNvPr id="13" name="Shape 11"/>
          <p:cNvSpPr/>
          <p:nvPr/>
        </p:nvSpPr>
        <p:spPr>
          <a:xfrm>
            <a:off x="7269480" y="1783080"/>
            <a:ext cx="4343400" cy="4160520"/>
          </a:xfrm>
          <a:prstGeom prst="roundRect">
            <a:avLst>
              <a:gd name="adj" fmla="val 2637"/>
            </a:avLst>
          </a:prstGeom>
          <a:solidFill>
            <a:srgbClr val="1E2761"/>
          </a:solidFill>
          <a:ln/>
          <a:effectLst>
            <a:outerShdw sx="100000" sy="100000" kx="0" ky="0" algn="bl" rotWithShape="0" blurRad="101600" dist="38100" dir="5400000">
              <a:srgbClr val="1B2340">
                <a:alpha val="25000"/>
              </a:srgbClr>
            </a:outerShdw>
          </a:effectLst>
        </p:spPr>
      </p:sp>
      <p:pic>
        <p:nvPicPr>
          <p:cNvPr id="14" name="Image 0" descr="/home/claude/deck/assets/icons/problem.png">    </p:cNvPr>
          <p:cNvPicPr>
            <a:picLocks noChangeAspect="1"/>
          </p:cNvPicPr>
          <p:nvPr/>
        </p:nvPicPr>
        <p:blipFill>
          <a:blip r:embed="rId1"/>
          <a:stretch>
            <a:fillRect/>
          </a:stretch>
        </p:blipFill>
        <p:spPr>
          <a:xfrm>
            <a:off x="7635240" y="2103120"/>
            <a:ext cx="566928" cy="566928"/>
          </a:xfrm>
          <a:prstGeom prst="rect">
            <a:avLst/>
          </a:prstGeom>
        </p:spPr>
      </p:pic>
      <p:sp>
        <p:nvSpPr>
          <p:cNvPr id="15" name="Text 12"/>
          <p:cNvSpPr/>
          <p:nvPr/>
        </p:nvSpPr>
        <p:spPr>
          <a:xfrm>
            <a:off x="8366760" y="2130552"/>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Why This Matters</a:t>
            </a:r>
            <a:endParaRPr lang="en-US" sz="1500" dirty="0"/>
          </a:p>
        </p:txBody>
      </p:sp>
      <p:sp>
        <p:nvSpPr>
          <p:cNvPr id="16" name="Text 13"/>
          <p:cNvSpPr/>
          <p:nvPr/>
        </p:nvSpPr>
        <p:spPr>
          <a:xfrm>
            <a:off x="7635240" y="2880360"/>
            <a:ext cx="3566160" cy="502920"/>
          </a:xfrm>
          <a:prstGeom prst="rect">
            <a:avLst/>
          </a:prstGeom>
          <a:noFill/>
          <a:ln/>
        </p:spPr>
        <p:txBody>
          <a:bodyPr wrap="square" lIns="0" tIns="0" rIns="0" bIns="0" rtlCol="0" anchor="ctr"/>
          <a:lstStyle/>
          <a:p>
            <a:pPr indent="0" marL="0">
              <a:buNone/>
            </a:pPr>
            <a:r>
              <a:rPr lang="en-US" sz="2600" b="1" dirty="0">
                <a:solidFill>
                  <a:srgbClr val="F2A93B"/>
                </a:solidFill>
                <a:latin typeface="Cambria" pitchFamily="34" charset="0"/>
                <a:ea typeface="Cambria" pitchFamily="34" charset="-122"/>
                <a:cs typeface="Cambria" pitchFamily="34" charset="-120"/>
              </a:rPr>
              <a:t>$1,200+</a:t>
            </a:r>
            <a:endParaRPr lang="en-US" sz="2600" dirty="0"/>
          </a:p>
        </p:txBody>
      </p:sp>
      <p:sp>
        <p:nvSpPr>
          <p:cNvPr id="17" name="Text 14"/>
          <p:cNvSpPr/>
          <p:nvPr/>
        </p:nvSpPr>
        <p:spPr>
          <a:xfrm>
            <a:off x="7635240" y="3355848"/>
            <a:ext cx="3566160" cy="502920"/>
          </a:xfrm>
          <a:prstGeom prst="rect">
            <a:avLst/>
          </a:prstGeom>
          <a:noFill/>
          <a:ln/>
        </p:spPr>
        <p:txBody>
          <a:bodyPr wrap="square" lIns="0" tIns="0" rIns="0" bIns="0" rtlCol="0" anchor="ctr"/>
          <a:lstStyle/>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average cost of a single unmanaged delayed shipment</a:t>
            </a:r>
            <a:endParaRPr lang="en-US" sz="1150" dirty="0"/>
          </a:p>
        </p:txBody>
      </p:sp>
      <p:sp>
        <p:nvSpPr>
          <p:cNvPr id="18" name="Text 15"/>
          <p:cNvSpPr/>
          <p:nvPr/>
        </p:nvSpPr>
        <p:spPr>
          <a:xfrm>
            <a:off x="7635240" y="3931920"/>
            <a:ext cx="3566160" cy="502920"/>
          </a:xfrm>
          <a:prstGeom prst="rect">
            <a:avLst/>
          </a:prstGeom>
          <a:noFill/>
          <a:ln/>
        </p:spPr>
        <p:txBody>
          <a:bodyPr wrap="square" lIns="0" tIns="0" rIns="0" bIns="0" rtlCol="0" anchor="ctr"/>
          <a:lstStyle/>
          <a:p>
            <a:pPr indent="0" marL="0">
              <a:buNone/>
            </a:pPr>
            <a:r>
              <a:rPr lang="en-US" sz="2600" b="1" dirty="0">
                <a:solidFill>
                  <a:srgbClr val="F2A93B"/>
                </a:solidFill>
                <a:latin typeface="Cambria" pitchFamily="34" charset="0"/>
                <a:ea typeface="Cambria" pitchFamily="34" charset="-122"/>
                <a:cs typeface="Cambria" pitchFamily="34" charset="-120"/>
              </a:rPr>
              <a:t>&lt; 5 min</a:t>
            </a:r>
            <a:endParaRPr lang="en-US" sz="2600" dirty="0"/>
          </a:p>
        </p:txBody>
      </p:sp>
      <p:sp>
        <p:nvSpPr>
          <p:cNvPr id="19" name="Text 16"/>
          <p:cNvSpPr/>
          <p:nvPr/>
        </p:nvSpPr>
        <p:spPr>
          <a:xfrm>
            <a:off x="7635240" y="4407408"/>
            <a:ext cx="3566160" cy="502920"/>
          </a:xfrm>
          <a:prstGeom prst="rect">
            <a:avLst/>
          </a:prstGeom>
          <a:noFill/>
          <a:ln/>
        </p:spPr>
        <p:txBody>
          <a:bodyPr wrap="square" lIns="0" tIns="0" rIns="0" bIns="0" rtlCol="0" anchor="ctr"/>
          <a:lstStyle/>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target decision window for automated rerouting</a:t>
            </a:r>
            <a:endParaRPr lang="en-US" sz="1150" dirty="0"/>
          </a:p>
        </p:txBody>
      </p:sp>
      <p:sp>
        <p:nvSpPr>
          <p:cNvPr id="20" name="Text 17"/>
          <p:cNvSpPr/>
          <p:nvPr/>
        </p:nvSpPr>
        <p:spPr>
          <a:xfrm>
            <a:off x="7635240" y="4983480"/>
            <a:ext cx="3566160" cy="502920"/>
          </a:xfrm>
          <a:prstGeom prst="rect">
            <a:avLst/>
          </a:prstGeom>
          <a:noFill/>
          <a:ln/>
        </p:spPr>
        <p:txBody>
          <a:bodyPr wrap="square" lIns="0" tIns="0" rIns="0" bIns="0" rtlCol="0" anchor="ctr"/>
          <a:lstStyle/>
          <a:p>
            <a:pPr indent="0" marL="0">
              <a:buNone/>
            </a:pPr>
            <a:r>
              <a:rPr lang="en-US" sz="2600" b="1" dirty="0">
                <a:solidFill>
                  <a:srgbClr val="F2A93B"/>
                </a:solidFill>
                <a:latin typeface="Cambria" pitchFamily="34" charset="0"/>
                <a:ea typeface="Cambria" pitchFamily="34" charset="-122"/>
                <a:cs typeface="Cambria" pitchFamily="34" charset="-120"/>
              </a:rPr>
              <a:t>24/7</a:t>
            </a:r>
            <a:endParaRPr lang="en-US" sz="2600" dirty="0"/>
          </a:p>
        </p:txBody>
      </p:sp>
      <p:sp>
        <p:nvSpPr>
          <p:cNvPr id="21" name="Text 18"/>
          <p:cNvSpPr/>
          <p:nvPr/>
        </p:nvSpPr>
        <p:spPr>
          <a:xfrm>
            <a:off x="7635240" y="5458968"/>
            <a:ext cx="3566160" cy="502920"/>
          </a:xfrm>
          <a:prstGeom prst="rect">
            <a:avLst/>
          </a:prstGeom>
          <a:noFill/>
          <a:ln/>
        </p:spPr>
        <p:txBody>
          <a:bodyPr wrap="square" lIns="0" tIns="0" rIns="0" bIns="0" rtlCol="0" anchor="ctr"/>
          <a:lstStyle/>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telemetry monitoring with no human bottleneck</a:t>
            </a:r>
            <a:endParaRPr lang="en-US" sz="1150" dirty="0"/>
          </a:p>
        </p:txBody>
      </p:sp>
      <p:sp>
        <p:nvSpPr>
          <p:cNvPr id="22" name="Text 19"/>
          <p:cNvSpPr/>
          <p:nvPr/>
        </p:nvSpPr>
        <p:spPr>
          <a:xfrm>
            <a:off x="457200" y="6547104"/>
            <a:ext cx="8229600" cy="256032"/>
          </a:xfrm>
          <a:prstGeom prst="rect">
            <a:avLst/>
          </a:prstGeom>
          <a:noFill/>
          <a:ln/>
        </p:spPr>
        <p:txBody>
          <a:bodyPr wrap="square" lIns="0" tIns="0" rIns="0" bIns="0" rtlCol="0" anchor="ctr"/>
          <a:lstStyle/>
          <a:p>
            <a:pPr indent="0" marL="0">
              <a:buNone/>
            </a:pPr>
            <a:r>
              <a:rPr lang="en-US" sz="850" spc="100" kern="0" dirty="0">
                <a:solidFill>
                  <a:srgbClr val="6C7599"/>
                </a:solidFill>
                <a:latin typeface="Calibri" pitchFamily="34" charset="0"/>
                <a:ea typeface="Calibri" pitchFamily="34" charset="-122"/>
                <a:cs typeface="Calibri" pitchFamily="34" charset="-120"/>
              </a:rPr>
              <a:t>AUTONOMOUS LOGISTICS REROUTING  |  AI RESEARCHER ASSESSMENT</a:t>
            </a:r>
            <a:endParaRPr lang="en-US" sz="850" dirty="0"/>
          </a:p>
        </p:txBody>
      </p:sp>
      <p:sp>
        <p:nvSpPr>
          <p:cNvPr id="23" name="Text 20"/>
          <p:cNvSpPr/>
          <p:nvPr/>
        </p:nvSpPr>
        <p:spPr>
          <a:xfrm>
            <a:off x="11430000" y="6547104"/>
            <a:ext cx="365760" cy="256032"/>
          </a:xfrm>
          <a:prstGeom prst="rect">
            <a:avLst/>
          </a:prstGeom>
          <a:noFill/>
          <a:ln/>
        </p:spPr>
        <p:txBody>
          <a:bodyPr wrap="square" lIns="0" tIns="0" rIns="0" bIns="0" rtlCol="0" anchor="ctr"/>
          <a:lstStyle/>
          <a:p>
            <a:pPr algn="r" indent="0" marL="0">
              <a:buNone/>
            </a:pPr>
            <a:r>
              <a:rPr lang="en-US" sz="850" dirty="0">
                <a:solidFill>
                  <a:srgbClr val="6C7599"/>
                </a:solidFill>
                <a:latin typeface="Calibri" pitchFamily="34" charset="0"/>
                <a:ea typeface="Calibri" pitchFamily="34" charset="-122"/>
                <a:cs typeface="Calibri"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F2A93B"/>
                </a:solidFill>
                <a:latin typeface="Calibri" pitchFamily="34" charset="0"/>
                <a:ea typeface="Calibri" pitchFamily="34" charset="-122"/>
                <a:cs typeface="Calibri" pitchFamily="34" charset="-120"/>
              </a:rPr>
              <a:t>ASSESSMENT SCOPE</a:t>
            </a:r>
            <a:endParaRPr lang="en-US" sz="125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Three objectives, one production decision</a:t>
            </a:r>
            <a:endParaRPr lang="en-US" sz="3000" dirty="0"/>
          </a:p>
        </p:txBody>
      </p:sp>
      <p:sp>
        <p:nvSpPr>
          <p:cNvPr id="4" name="Shape 2"/>
          <p:cNvSpPr/>
          <p:nvPr/>
        </p:nvSpPr>
        <p:spPr>
          <a:xfrm>
            <a:off x="548640" y="1874520"/>
            <a:ext cx="3520440" cy="3977640"/>
          </a:xfrm>
          <a:prstGeom prst="roundRect">
            <a:avLst>
              <a:gd name="adj" fmla="val 2597"/>
            </a:avLst>
          </a:prstGeom>
          <a:solidFill>
            <a:srgbClr val="EEF3FE"/>
          </a:solidFill>
          <a:ln w="12700">
            <a:solidFill>
              <a:srgbClr val="CADCFC"/>
            </a:solidFill>
            <a:prstDash val="solid"/>
          </a:ln>
        </p:spPr>
      </p:sp>
      <p:sp>
        <p:nvSpPr>
          <p:cNvPr id="5" name="Shape 3"/>
          <p:cNvSpPr/>
          <p:nvPr/>
        </p:nvSpPr>
        <p:spPr>
          <a:xfrm>
            <a:off x="868680" y="2194560"/>
            <a:ext cx="777240" cy="777240"/>
          </a:xfrm>
          <a:prstGeom prst="ellipse">
            <a:avLst/>
          </a:prstGeom>
          <a:solidFill>
            <a:srgbClr val="1E2761"/>
          </a:solidFill>
          <a:ln/>
        </p:spPr>
      </p:sp>
      <p:pic>
        <p:nvPicPr>
          <p:cNvPr id="6" name="Image 0" descr="/home/claude/deck/assets/icons/trajectory.png">    </p:cNvPr>
          <p:cNvPicPr>
            <a:picLocks noChangeAspect="1"/>
          </p:cNvPicPr>
          <p:nvPr/>
        </p:nvPicPr>
        <p:blipFill>
          <a:blip r:embed="rId1"/>
          <a:stretch>
            <a:fillRect/>
          </a:stretch>
        </p:blipFill>
        <p:spPr>
          <a:xfrm>
            <a:off x="1051560" y="2377440"/>
            <a:ext cx="411480" cy="411480"/>
          </a:xfrm>
          <a:prstGeom prst="rect">
            <a:avLst/>
          </a:prstGeom>
        </p:spPr>
      </p:pic>
      <p:sp>
        <p:nvSpPr>
          <p:cNvPr id="7" name="Text 4"/>
          <p:cNvSpPr/>
          <p:nvPr/>
        </p:nvSpPr>
        <p:spPr>
          <a:xfrm>
            <a:off x="868680" y="3154680"/>
            <a:ext cx="2880360" cy="640080"/>
          </a:xfrm>
          <a:prstGeom prst="rect">
            <a:avLst/>
          </a:prstGeom>
          <a:noFill/>
          <a:ln/>
        </p:spPr>
        <p:txBody>
          <a:bodyPr wrap="square" lIns="0" tIns="0" rIns="0" bIns="0" rtlCol="0" anchor="ctr"/>
          <a:lstStyle/>
          <a:p>
            <a:pPr indent="0" marL="0">
              <a:lnSpc>
                <a:spcPct val="105000"/>
              </a:lnSpc>
              <a:buNone/>
            </a:pPr>
            <a:r>
              <a:rPr lang="en-US" sz="1650" b="1" dirty="0">
                <a:solidFill>
                  <a:srgbClr val="1E2761"/>
                </a:solidFill>
                <a:latin typeface="Cambria" pitchFamily="34" charset="0"/>
                <a:ea typeface="Cambria" pitchFamily="34" charset="-122"/>
                <a:cs typeface="Cambria" pitchFamily="34" charset="-120"/>
              </a:rPr>
              <a:t>1. Evaluate the Models</a:t>
            </a:r>
            <a:endParaRPr lang="en-US" sz="1650" dirty="0"/>
          </a:p>
        </p:txBody>
      </p:sp>
      <p:sp>
        <p:nvSpPr>
          <p:cNvPr id="8" name="Text 5"/>
          <p:cNvSpPr/>
          <p:nvPr/>
        </p:nvSpPr>
        <p:spPr>
          <a:xfrm>
            <a:off x="868680" y="3794760"/>
            <a:ext cx="2880360" cy="1874520"/>
          </a:xfrm>
          <a:prstGeom prst="rect">
            <a:avLst/>
          </a:prstGeom>
          <a:noFill/>
          <a:ln/>
        </p:spPr>
        <p:txBody>
          <a:bodyPr wrap="square" lIns="0" tIns="0" rIns="0" bIns="0" rtlCol="0" anchor="ctr"/>
          <a:lstStyle/>
          <a:p>
            <a:pPr indent="0" marL="0">
              <a:lnSpc>
                <a:spcPct val="130000"/>
              </a:lnSpc>
              <a:buNone/>
            </a:pPr>
            <a:r>
              <a:rPr lang="en-US" sz="1250" dirty="0">
                <a:solidFill>
                  <a:srgbClr val="6C7599"/>
                </a:solidFill>
                <a:latin typeface="Calibri" pitchFamily="34" charset="0"/>
                <a:ea typeface="Calibri" pitchFamily="34" charset="-122"/>
                <a:cs typeface="Calibri" pitchFamily="34" charset="-120"/>
              </a:rPr>
              <a:t>Compare GPT-5 and Llama 3.3 70B using trajectory-based evaluation — reasoning, tool calls, and recovery, not just final answers.</a:t>
            </a:r>
            <a:endParaRPr lang="en-US" sz="1250" dirty="0"/>
          </a:p>
        </p:txBody>
      </p:sp>
      <p:sp>
        <p:nvSpPr>
          <p:cNvPr id="9" name="Shape 6"/>
          <p:cNvSpPr/>
          <p:nvPr/>
        </p:nvSpPr>
        <p:spPr>
          <a:xfrm>
            <a:off x="4389120" y="1874520"/>
            <a:ext cx="3520440" cy="3977640"/>
          </a:xfrm>
          <a:prstGeom prst="roundRect">
            <a:avLst>
              <a:gd name="adj" fmla="val 2597"/>
            </a:avLst>
          </a:prstGeom>
          <a:solidFill>
            <a:srgbClr val="EEF3FE"/>
          </a:solidFill>
          <a:ln w="12700">
            <a:solidFill>
              <a:srgbClr val="CADCFC"/>
            </a:solidFill>
            <a:prstDash val="solid"/>
          </a:ln>
        </p:spPr>
      </p:sp>
      <p:sp>
        <p:nvSpPr>
          <p:cNvPr id="10" name="Shape 7"/>
          <p:cNvSpPr/>
          <p:nvPr/>
        </p:nvSpPr>
        <p:spPr>
          <a:xfrm>
            <a:off x="4709160" y="2194560"/>
            <a:ext cx="777240" cy="777240"/>
          </a:xfrm>
          <a:prstGeom prst="ellipse">
            <a:avLst/>
          </a:prstGeom>
          <a:solidFill>
            <a:srgbClr val="1E2761"/>
          </a:solidFill>
          <a:ln/>
        </p:spPr>
      </p:sp>
      <p:pic>
        <p:nvPicPr>
          <p:cNvPr id="11" name="Image 1" descr="/home/claude/deck/assets/icons/langgraph.png">    </p:cNvPr>
          <p:cNvPicPr>
            <a:picLocks noChangeAspect="1"/>
          </p:cNvPicPr>
          <p:nvPr/>
        </p:nvPicPr>
        <p:blipFill>
          <a:blip r:embed="rId2"/>
          <a:stretch>
            <a:fillRect/>
          </a:stretch>
        </p:blipFill>
        <p:spPr>
          <a:xfrm>
            <a:off x="4892040" y="2377440"/>
            <a:ext cx="411480" cy="411480"/>
          </a:xfrm>
          <a:prstGeom prst="rect">
            <a:avLst/>
          </a:prstGeom>
        </p:spPr>
      </p:pic>
      <p:sp>
        <p:nvSpPr>
          <p:cNvPr id="12" name="Text 8"/>
          <p:cNvSpPr/>
          <p:nvPr/>
        </p:nvSpPr>
        <p:spPr>
          <a:xfrm>
            <a:off x="4709160" y="3154680"/>
            <a:ext cx="2880360" cy="640080"/>
          </a:xfrm>
          <a:prstGeom prst="rect">
            <a:avLst/>
          </a:prstGeom>
          <a:noFill/>
          <a:ln/>
        </p:spPr>
        <p:txBody>
          <a:bodyPr wrap="square" lIns="0" tIns="0" rIns="0" bIns="0" rtlCol="0" anchor="ctr"/>
          <a:lstStyle/>
          <a:p>
            <a:pPr indent="0" marL="0">
              <a:lnSpc>
                <a:spcPct val="105000"/>
              </a:lnSpc>
              <a:buNone/>
            </a:pPr>
            <a:r>
              <a:rPr lang="en-US" sz="1650" b="1" dirty="0">
                <a:solidFill>
                  <a:srgbClr val="1E2761"/>
                </a:solidFill>
                <a:latin typeface="Cambria" pitchFamily="34" charset="0"/>
                <a:ea typeface="Cambria" pitchFamily="34" charset="-122"/>
                <a:cs typeface="Cambria" pitchFamily="34" charset="-120"/>
              </a:rPr>
              <a:t>2. Build the System</a:t>
            </a:r>
            <a:endParaRPr lang="en-US" sz="1650" dirty="0"/>
          </a:p>
        </p:txBody>
      </p:sp>
      <p:sp>
        <p:nvSpPr>
          <p:cNvPr id="13" name="Text 9"/>
          <p:cNvSpPr/>
          <p:nvPr/>
        </p:nvSpPr>
        <p:spPr>
          <a:xfrm>
            <a:off x="4709160" y="3794760"/>
            <a:ext cx="2880360" cy="1874520"/>
          </a:xfrm>
          <a:prstGeom prst="rect">
            <a:avLst/>
          </a:prstGeom>
          <a:noFill/>
          <a:ln/>
        </p:spPr>
        <p:txBody>
          <a:bodyPr wrap="square" lIns="0" tIns="0" rIns="0" bIns="0" rtlCol="0" anchor="ctr"/>
          <a:lstStyle/>
          <a:p>
            <a:pPr indent="0" marL="0">
              <a:lnSpc>
                <a:spcPct val="130000"/>
              </a:lnSpc>
              <a:buNone/>
            </a:pPr>
            <a:r>
              <a:rPr lang="en-US" sz="1250" dirty="0">
                <a:solidFill>
                  <a:srgbClr val="6C7599"/>
                </a:solidFill>
                <a:latin typeface="Calibri" pitchFamily="34" charset="0"/>
                <a:ea typeface="Calibri" pitchFamily="34" charset="-122"/>
                <a:cs typeface="Calibri" pitchFamily="34" charset="-120"/>
              </a:rPr>
              <a:t>Design a lightweight multi-agent workflow in LangGraph that detects, decides, and executes a reroute end-to-end.</a:t>
            </a:r>
            <a:endParaRPr lang="en-US" sz="1250" dirty="0"/>
          </a:p>
        </p:txBody>
      </p:sp>
      <p:sp>
        <p:nvSpPr>
          <p:cNvPr id="14" name="Shape 10"/>
          <p:cNvSpPr/>
          <p:nvPr/>
        </p:nvSpPr>
        <p:spPr>
          <a:xfrm>
            <a:off x="8229600" y="1874520"/>
            <a:ext cx="3520440" cy="3977640"/>
          </a:xfrm>
          <a:prstGeom prst="roundRect">
            <a:avLst>
              <a:gd name="adj" fmla="val 2597"/>
            </a:avLst>
          </a:prstGeom>
          <a:solidFill>
            <a:srgbClr val="EEF3FE"/>
          </a:solidFill>
          <a:ln w="12700">
            <a:solidFill>
              <a:srgbClr val="CADCFC"/>
            </a:solidFill>
            <a:prstDash val="solid"/>
          </a:ln>
        </p:spPr>
      </p:sp>
      <p:sp>
        <p:nvSpPr>
          <p:cNvPr id="15" name="Shape 11"/>
          <p:cNvSpPr/>
          <p:nvPr/>
        </p:nvSpPr>
        <p:spPr>
          <a:xfrm>
            <a:off x="8549640" y="2194560"/>
            <a:ext cx="777240" cy="777240"/>
          </a:xfrm>
          <a:prstGeom prst="ellipse">
            <a:avLst/>
          </a:prstGeom>
          <a:solidFill>
            <a:srgbClr val="1E2761"/>
          </a:solidFill>
          <a:ln/>
        </p:spPr>
      </p:sp>
      <p:pic>
        <p:nvPicPr>
          <p:cNvPr id="16" name="Image 2" descr="/home/claude/deck/assets/icons/objective.png">    </p:cNvPr>
          <p:cNvPicPr>
            <a:picLocks noChangeAspect="1"/>
          </p:cNvPicPr>
          <p:nvPr/>
        </p:nvPicPr>
        <p:blipFill>
          <a:blip r:embed="rId3"/>
          <a:stretch>
            <a:fillRect/>
          </a:stretch>
        </p:blipFill>
        <p:spPr>
          <a:xfrm>
            <a:off x="8732520" y="2377440"/>
            <a:ext cx="411480" cy="411480"/>
          </a:xfrm>
          <a:prstGeom prst="rect">
            <a:avLst/>
          </a:prstGeom>
        </p:spPr>
      </p:pic>
      <p:sp>
        <p:nvSpPr>
          <p:cNvPr id="17" name="Text 12"/>
          <p:cNvSpPr/>
          <p:nvPr/>
        </p:nvSpPr>
        <p:spPr>
          <a:xfrm>
            <a:off x="8549640" y="3154680"/>
            <a:ext cx="2880360" cy="640080"/>
          </a:xfrm>
          <a:prstGeom prst="rect">
            <a:avLst/>
          </a:prstGeom>
          <a:noFill/>
          <a:ln/>
        </p:spPr>
        <p:txBody>
          <a:bodyPr wrap="square" lIns="0" tIns="0" rIns="0" bIns="0" rtlCol="0" anchor="ctr"/>
          <a:lstStyle/>
          <a:p>
            <a:pPr indent="0" marL="0">
              <a:lnSpc>
                <a:spcPct val="105000"/>
              </a:lnSpc>
              <a:buNone/>
            </a:pPr>
            <a:r>
              <a:rPr lang="en-US" sz="1650" b="1" dirty="0">
                <a:solidFill>
                  <a:srgbClr val="1E2761"/>
                </a:solidFill>
                <a:latin typeface="Cambria" pitchFamily="34" charset="0"/>
                <a:ea typeface="Cambria" pitchFamily="34" charset="-122"/>
                <a:cs typeface="Cambria" pitchFamily="34" charset="-120"/>
              </a:rPr>
              <a:t>3. Recommend a Path</a:t>
            </a:r>
            <a:endParaRPr lang="en-US" sz="1650" dirty="0"/>
          </a:p>
        </p:txBody>
      </p:sp>
      <p:sp>
        <p:nvSpPr>
          <p:cNvPr id="18" name="Text 13"/>
          <p:cNvSpPr/>
          <p:nvPr/>
        </p:nvSpPr>
        <p:spPr>
          <a:xfrm>
            <a:off x="8549640" y="3794760"/>
            <a:ext cx="2880360" cy="1874520"/>
          </a:xfrm>
          <a:prstGeom prst="rect">
            <a:avLst/>
          </a:prstGeom>
          <a:noFill/>
          <a:ln/>
        </p:spPr>
        <p:txBody>
          <a:bodyPr wrap="square" lIns="0" tIns="0" rIns="0" bIns="0" rtlCol="0" anchor="ctr"/>
          <a:lstStyle/>
          <a:p>
            <a:pPr indent="0" marL="0">
              <a:lnSpc>
                <a:spcPct val="130000"/>
              </a:lnSpc>
              <a:buNone/>
            </a:pPr>
            <a:r>
              <a:rPr lang="en-US" sz="1250" dirty="0">
                <a:solidFill>
                  <a:srgbClr val="6C7599"/>
                </a:solidFill>
                <a:latin typeface="Calibri" pitchFamily="34" charset="0"/>
                <a:ea typeface="Calibri" pitchFamily="34" charset="-122"/>
                <a:cs typeface="Calibri" pitchFamily="34" charset="-120"/>
              </a:rPr>
              <a:t>Translate technical findings into a production-ready, cost-aware recommendation for leadership.</a:t>
            </a:r>
            <a:endParaRPr lang="en-US" sz="1250" dirty="0"/>
          </a:p>
        </p:txBody>
      </p:sp>
      <p:sp>
        <p:nvSpPr>
          <p:cNvPr id="19" name="Text 14"/>
          <p:cNvSpPr/>
          <p:nvPr/>
        </p:nvSpPr>
        <p:spPr>
          <a:xfrm>
            <a:off x="457200" y="6547104"/>
            <a:ext cx="8229600" cy="256032"/>
          </a:xfrm>
          <a:prstGeom prst="rect">
            <a:avLst/>
          </a:prstGeom>
          <a:noFill/>
          <a:ln/>
        </p:spPr>
        <p:txBody>
          <a:bodyPr wrap="square" lIns="0" tIns="0" rIns="0" bIns="0" rtlCol="0" anchor="ctr"/>
          <a:lstStyle/>
          <a:p>
            <a:pPr indent="0" marL="0">
              <a:buNone/>
            </a:pPr>
            <a:r>
              <a:rPr lang="en-US" sz="850" spc="100" kern="0" dirty="0">
                <a:solidFill>
                  <a:srgbClr val="6C7599"/>
                </a:solidFill>
                <a:latin typeface="Calibri" pitchFamily="34" charset="0"/>
                <a:ea typeface="Calibri" pitchFamily="34" charset="-122"/>
                <a:cs typeface="Calibri" pitchFamily="34" charset="-120"/>
              </a:rPr>
              <a:t>AUTONOMOUS LOGISTICS REROUTING  |  AI RESEARCHER ASSESSMENT</a:t>
            </a:r>
            <a:endParaRPr lang="en-US" sz="850" dirty="0"/>
          </a:p>
        </p:txBody>
      </p:sp>
      <p:sp>
        <p:nvSpPr>
          <p:cNvPr id="20" name="Text 15"/>
          <p:cNvSpPr/>
          <p:nvPr/>
        </p:nvSpPr>
        <p:spPr>
          <a:xfrm>
            <a:off x="11430000" y="6547104"/>
            <a:ext cx="365760" cy="256032"/>
          </a:xfrm>
          <a:prstGeom prst="rect">
            <a:avLst/>
          </a:prstGeom>
          <a:noFill/>
          <a:ln/>
        </p:spPr>
        <p:txBody>
          <a:bodyPr wrap="square" lIns="0" tIns="0" rIns="0" bIns="0" rtlCol="0" anchor="ctr"/>
          <a:lstStyle/>
          <a:p>
            <a:pPr algn="r" indent="0" marL="0">
              <a:buNone/>
            </a:pPr>
            <a:r>
              <a:rPr lang="en-US" sz="850" dirty="0">
                <a:solidFill>
                  <a:srgbClr val="6C7599"/>
                </a:solidFill>
                <a:latin typeface="Calibri" pitchFamily="34" charset="0"/>
                <a:ea typeface="Calibri" pitchFamily="34" charset="-122"/>
                <a:cs typeface="Calibri"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F2A93B"/>
                </a:solidFill>
                <a:latin typeface="Calibri" pitchFamily="34" charset="0"/>
                <a:ea typeface="Calibri" pitchFamily="34" charset="-122"/>
                <a:cs typeface="Calibri" pitchFamily="34" charset="-120"/>
              </a:rPr>
              <a:t>SYSTEM DESIGN</a:t>
            </a:r>
            <a:endParaRPr lang="en-US" sz="125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LangGraph rerouting pipeline</a:t>
            </a:r>
            <a:endParaRPr lang="en-US" sz="3000" dirty="0"/>
          </a:p>
        </p:txBody>
      </p:sp>
      <p:sp>
        <p:nvSpPr>
          <p:cNvPr id="4" name="Text 2"/>
          <p:cNvSpPr/>
          <p:nvPr/>
        </p:nvSpPr>
        <p:spPr>
          <a:xfrm>
            <a:off x="548640" y="1298448"/>
            <a:ext cx="9144000" cy="36576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A stateful graph of three agents, sharing one typed state object end-to-end</a:t>
            </a:r>
            <a:endParaRPr lang="en-US" sz="1300" dirty="0"/>
          </a:p>
        </p:txBody>
      </p:sp>
      <p:sp>
        <p:nvSpPr>
          <p:cNvPr id="5" name="Shape 3"/>
          <p:cNvSpPr/>
          <p:nvPr/>
        </p:nvSpPr>
        <p:spPr>
          <a:xfrm>
            <a:off x="685800" y="2148840"/>
            <a:ext cx="3063240" cy="3246120"/>
          </a:xfrm>
          <a:prstGeom prst="roundRect">
            <a:avLst>
              <a:gd name="adj" fmla="val 2985"/>
            </a:avLst>
          </a:prstGeom>
          <a:solidFill>
            <a:srgbClr val="FFFFFF"/>
          </a:solidFill>
          <a:ln/>
          <a:effectLst>
            <a:outerShdw sx="100000" sy="100000" kx="0" ky="0" algn="bl" rotWithShape="0" blurRad="127000" dist="50800" dir="5400000">
              <a:srgbClr val="0B0F2E">
                <a:alpha val="35000"/>
              </a:srgbClr>
            </a:outerShdw>
          </a:effectLst>
        </p:spPr>
      </p:sp>
      <p:sp>
        <p:nvSpPr>
          <p:cNvPr id="6" name="Shape 4"/>
          <p:cNvSpPr/>
          <p:nvPr/>
        </p:nvSpPr>
        <p:spPr>
          <a:xfrm>
            <a:off x="1833372" y="2423160"/>
            <a:ext cx="768096" cy="768096"/>
          </a:xfrm>
          <a:prstGeom prst="ellipse">
            <a:avLst/>
          </a:prstGeom>
          <a:solidFill>
            <a:srgbClr val="1E2761"/>
          </a:solidFill>
          <a:ln/>
        </p:spPr>
      </p:sp>
      <p:pic>
        <p:nvPicPr>
          <p:cNvPr id="7" name="Image 0" descr="/home/claude/deck/assets/icons/telemetry.png">    </p:cNvPr>
          <p:cNvPicPr>
            <a:picLocks noChangeAspect="1"/>
          </p:cNvPicPr>
          <p:nvPr/>
        </p:nvPicPr>
        <p:blipFill>
          <a:blip r:embed="rId1"/>
          <a:stretch>
            <a:fillRect/>
          </a:stretch>
        </p:blipFill>
        <p:spPr>
          <a:xfrm>
            <a:off x="2016252" y="2606040"/>
            <a:ext cx="402336" cy="402336"/>
          </a:xfrm>
          <a:prstGeom prst="rect">
            <a:avLst/>
          </a:prstGeom>
        </p:spPr>
      </p:pic>
      <p:sp>
        <p:nvSpPr>
          <p:cNvPr id="8" name="Text 5"/>
          <p:cNvSpPr/>
          <p:nvPr/>
        </p:nvSpPr>
        <p:spPr>
          <a:xfrm>
            <a:off x="868680" y="3319272"/>
            <a:ext cx="269748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Telemetry Alert</a:t>
            </a:r>
            <a:endParaRPr lang="en-US" sz="1600" dirty="0"/>
          </a:p>
        </p:txBody>
      </p:sp>
      <p:sp>
        <p:nvSpPr>
          <p:cNvPr id="9" name="Text 6"/>
          <p:cNvSpPr/>
          <p:nvPr/>
        </p:nvSpPr>
        <p:spPr>
          <a:xfrm>
            <a:off x="868680" y="3666744"/>
            <a:ext cx="2697480" cy="274320"/>
          </a:xfrm>
          <a:prstGeom prst="rect">
            <a:avLst/>
          </a:prstGeom>
          <a:noFill/>
          <a:ln/>
        </p:spPr>
        <p:txBody>
          <a:bodyPr wrap="square" lIns="0" tIns="0" rIns="0" bIns="0" rtlCol="0" anchor="ctr"/>
          <a:lstStyle/>
          <a:p>
            <a:pPr algn="ctr" indent="0" marL="0">
              <a:buNone/>
            </a:pPr>
            <a:r>
              <a:rPr lang="en-US" sz="1000" b="1" spc="120" kern="0" dirty="0">
                <a:solidFill>
                  <a:srgbClr val="F2A93B"/>
                </a:solidFill>
                <a:latin typeface="Calibri" pitchFamily="34" charset="0"/>
                <a:ea typeface="Calibri" pitchFamily="34" charset="-122"/>
                <a:cs typeface="Calibri" pitchFamily="34" charset="-120"/>
              </a:rPr>
              <a:t>DETECTS DELAY</a:t>
            </a:r>
            <a:endParaRPr lang="en-US" sz="1000" dirty="0"/>
          </a:p>
        </p:txBody>
      </p:sp>
      <p:sp>
        <p:nvSpPr>
          <p:cNvPr id="10" name="Text 7"/>
          <p:cNvSpPr/>
          <p:nvPr/>
        </p:nvSpPr>
        <p:spPr>
          <a:xfrm>
            <a:off x="941832" y="4023360"/>
            <a:ext cx="2551176" cy="1280160"/>
          </a:xfrm>
          <a:prstGeom prst="rect">
            <a:avLst/>
          </a:prstGeom>
          <a:noFill/>
          <a:ln/>
        </p:spPr>
        <p:txBody>
          <a:bodyPr wrap="square" lIns="0" tIns="0" rIns="0" bIns="0" rtlCol="0" anchor="ctr"/>
          <a:lstStyle/>
          <a:p>
            <a:pPr algn="ctr" indent="0" marL="0">
              <a:lnSpc>
                <a:spcPct val="125000"/>
              </a:lnSpc>
              <a:buNone/>
            </a:pPr>
            <a:r>
              <a:rPr lang="en-US" sz="1100" dirty="0">
                <a:solidFill>
                  <a:srgbClr val="6C7599"/>
                </a:solidFill>
                <a:latin typeface="Calibri" pitchFamily="34" charset="0"/>
                <a:ea typeface="Calibri" pitchFamily="34" charset="-122"/>
                <a:cs typeface="Calibri" pitchFamily="34" charset="-120"/>
              </a:rPr>
              <a:t>Streams carrier GPS, customs &amp; ETA feeds; flags shipments crossing a delay threshold.</a:t>
            </a:r>
            <a:endParaRPr lang="en-US" sz="1100" dirty="0"/>
          </a:p>
        </p:txBody>
      </p:sp>
      <p:sp>
        <p:nvSpPr>
          <p:cNvPr id="11" name="Shape 8"/>
          <p:cNvSpPr/>
          <p:nvPr/>
        </p:nvSpPr>
        <p:spPr>
          <a:xfrm>
            <a:off x="3822192" y="3771900"/>
            <a:ext cx="722376" cy="0"/>
          </a:xfrm>
          <a:prstGeom prst="line">
            <a:avLst/>
          </a:prstGeom>
          <a:noFill/>
          <a:ln w="31750">
            <a:solidFill>
              <a:srgbClr val="F2A93B"/>
            </a:solidFill>
            <a:prstDash val="solid"/>
            <a:tailEnd type="triangle"/>
          </a:ln>
        </p:spPr>
      </p:sp>
      <p:sp>
        <p:nvSpPr>
          <p:cNvPr id="12" name="Shape 9"/>
          <p:cNvSpPr/>
          <p:nvPr/>
        </p:nvSpPr>
        <p:spPr>
          <a:xfrm>
            <a:off x="4617720" y="2148840"/>
            <a:ext cx="3063240" cy="3246120"/>
          </a:xfrm>
          <a:prstGeom prst="roundRect">
            <a:avLst>
              <a:gd name="adj" fmla="val 2985"/>
            </a:avLst>
          </a:prstGeom>
          <a:solidFill>
            <a:srgbClr val="FFFFFF"/>
          </a:solidFill>
          <a:ln/>
          <a:effectLst>
            <a:outerShdw sx="100000" sy="100000" kx="0" ky="0" algn="bl" rotWithShape="0" blurRad="127000" dist="50800" dir="5400000">
              <a:srgbClr val="0B0F2E">
                <a:alpha val="35000"/>
              </a:srgbClr>
            </a:outerShdw>
          </a:effectLst>
        </p:spPr>
      </p:sp>
      <p:sp>
        <p:nvSpPr>
          <p:cNvPr id="13" name="Shape 10"/>
          <p:cNvSpPr/>
          <p:nvPr/>
        </p:nvSpPr>
        <p:spPr>
          <a:xfrm>
            <a:off x="5765292" y="2423160"/>
            <a:ext cx="768096" cy="768096"/>
          </a:xfrm>
          <a:prstGeom prst="ellipse">
            <a:avLst/>
          </a:prstGeom>
          <a:solidFill>
            <a:srgbClr val="1E2761"/>
          </a:solidFill>
          <a:ln/>
        </p:spPr>
      </p:sp>
      <p:pic>
        <p:nvPicPr>
          <p:cNvPr id="14" name="Image 1" descr="/home/claude/deck/assets/icons/decision.png">    </p:cNvPr>
          <p:cNvPicPr>
            <a:picLocks noChangeAspect="1"/>
          </p:cNvPicPr>
          <p:nvPr/>
        </p:nvPicPr>
        <p:blipFill>
          <a:blip r:embed="rId2"/>
          <a:stretch>
            <a:fillRect/>
          </a:stretch>
        </p:blipFill>
        <p:spPr>
          <a:xfrm>
            <a:off x="5948172" y="2606040"/>
            <a:ext cx="402336" cy="402336"/>
          </a:xfrm>
          <a:prstGeom prst="rect">
            <a:avLst/>
          </a:prstGeom>
        </p:spPr>
      </p:pic>
      <p:sp>
        <p:nvSpPr>
          <p:cNvPr id="15" name="Text 11"/>
          <p:cNvSpPr/>
          <p:nvPr/>
        </p:nvSpPr>
        <p:spPr>
          <a:xfrm>
            <a:off x="4800600" y="3319272"/>
            <a:ext cx="269748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Decision Agent</a:t>
            </a:r>
            <a:endParaRPr lang="en-US" sz="1600" dirty="0"/>
          </a:p>
        </p:txBody>
      </p:sp>
      <p:sp>
        <p:nvSpPr>
          <p:cNvPr id="16" name="Text 12"/>
          <p:cNvSpPr/>
          <p:nvPr/>
        </p:nvSpPr>
        <p:spPr>
          <a:xfrm>
            <a:off x="4800600" y="3666744"/>
            <a:ext cx="2697480" cy="274320"/>
          </a:xfrm>
          <a:prstGeom prst="rect">
            <a:avLst/>
          </a:prstGeom>
          <a:noFill/>
          <a:ln/>
        </p:spPr>
        <p:txBody>
          <a:bodyPr wrap="square" lIns="0" tIns="0" rIns="0" bIns="0" rtlCol="0" anchor="ctr"/>
          <a:lstStyle/>
          <a:p>
            <a:pPr algn="ctr" indent="0" marL="0">
              <a:buNone/>
            </a:pPr>
            <a:r>
              <a:rPr lang="en-US" sz="1000" b="1" spc="120" kern="0" dirty="0">
                <a:solidFill>
                  <a:srgbClr val="F2A93B"/>
                </a:solidFill>
                <a:latin typeface="Calibri" pitchFamily="34" charset="0"/>
                <a:ea typeface="Calibri" pitchFamily="34" charset="-122"/>
                <a:cs typeface="Calibri" pitchFamily="34" charset="-120"/>
              </a:rPr>
              <a:t>EVALUATES &amp; CHOOSES</a:t>
            </a:r>
            <a:endParaRPr lang="en-US" sz="1000" dirty="0"/>
          </a:p>
        </p:txBody>
      </p:sp>
      <p:sp>
        <p:nvSpPr>
          <p:cNvPr id="17" name="Text 13"/>
          <p:cNvSpPr/>
          <p:nvPr/>
        </p:nvSpPr>
        <p:spPr>
          <a:xfrm>
            <a:off x="4873752" y="4023360"/>
            <a:ext cx="2551176" cy="1280160"/>
          </a:xfrm>
          <a:prstGeom prst="rect">
            <a:avLst/>
          </a:prstGeom>
          <a:noFill/>
          <a:ln/>
        </p:spPr>
        <p:txBody>
          <a:bodyPr wrap="square" lIns="0" tIns="0" rIns="0" bIns="0" rtlCol="0" anchor="ctr"/>
          <a:lstStyle/>
          <a:p>
            <a:pPr algn="ctr" indent="0" marL="0">
              <a:lnSpc>
                <a:spcPct val="125000"/>
              </a:lnSpc>
              <a:buNone/>
            </a:pPr>
            <a:r>
              <a:rPr lang="en-US" sz="1100" dirty="0">
                <a:solidFill>
                  <a:srgbClr val="6C7599"/>
                </a:solidFill>
                <a:latin typeface="Calibri" pitchFamily="34" charset="0"/>
                <a:ea typeface="Calibri" pitchFamily="34" charset="-122"/>
                <a:cs typeface="Calibri" pitchFamily="34" charset="-120"/>
              </a:rPr>
              <a:t>Compares alternate carriers on ETA, cost &amp; reliability; calls tools; selects the best reroute.</a:t>
            </a:r>
            <a:endParaRPr lang="en-US" sz="1100" dirty="0"/>
          </a:p>
        </p:txBody>
      </p:sp>
      <p:sp>
        <p:nvSpPr>
          <p:cNvPr id="18" name="Shape 14"/>
          <p:cNvSpPr/>
          <p:nvPr/>
        </p:nvSpPr>
        <p:spPr>
          <a:xfrm>
            <a:off x="7754112" y="3771900"/>
            <a:ext cx="722376" cy="0"/>
          </a:xfrm>
          <a:prstGeom prst="line">
            <a:avLst/>
          </a:prstGeom>
          <a:noFill/>
          <a:ln w="31750">
            <a:solidFill>
              <a:srgbClr val="F2A93B"/>
            </a:solidFill>
            <a:prstDash val="solid"/>
            <a:tailEnd type="triangle"/>
          </a:ln>
        </p:spPr>
      </p:sp>
      <p:sp>
        <p:nvSpPr>
          <p:cNvPr id="19" name="Shape 15"/>
          <p:cNvSpPr/>
          <p:nvPr/>
        </p:nvSpPr>
        <p:spPr>
          <a:xfrm>
            <a:off x="8549640" y="2148840"/>
            <a:ext cx="3063240" cy="3246120"/>
          </a:xfrm>
          <a:prstGeom prst="roundRect">
            <a:avLst>
              <a:gd name="adj" fmla="val 2985"/>
            </a:avLst>
          </a:prstGeom>
          <a:solidFill>
            <a:srgbClr val="FFFFFF"/>
          </a:solidFill>
          <a:ln/>
          <a:effectLst>
            <a:outerShdw sx="100000" sy="100000" kx="0" ky="0" algn="bl" rotWithShape="0" blurRad="127000" dist="50800" dir="5400000">
              <a:srgbClr val="0B0F2E">
                <a:alpha val="35000"/>
              </a:srgbClr>
            </a:outerShdw>
          </a:effectLst>
        </p:spPr>
      </p:sp>
      <p:sp>
        <p:nvSpPr>
          <p:cNvPr id="20" name="Shape 16"/>
          <p:cNvSpPr/>
          <p:nvPr/>
        </p:nvSpPr>
        <p:spPr>
          <a:xfrm>
            <a:off x="9697212" y="2423160"/>
            <a:ext cx="768096" cy="768096"/>
          </a:xfrm>
          <a:prstGeom prst="ellipse">
            <a:avLst/>
          </a:prstGeom>
          <a:solidFill>
            <a:srgbClr val="1E2761"/>
          </a:solidFill>
          <a:ln/>
        </p:spPr>
      </p:sp>
      <p:pic>
        <p:nvPicPr>
          <p:cNvPr id="21" name="Image 2" descr="/home/claude/deck/assets/icons/execution.png">    </p:cNvPr>
          <p:cNvPicPr>
            <a:picLocks noChangeAspect="1"/>
          </p:cNvPicPr>
          <p:nvPr/>
        </p:nvPicPr>
        <p:blipFill>
          <a:blip r:embed="rId3"/>
          <a:stretch>
            <a:fillRect/>
          </a:stretch>
        </p:blipFill>
        <p:spPr>
          <a:xfrm>
            <a:off x="9880092" y="2606040"/>
            <a:ext cx="402336" cy="402336"/>
          </a:xfrm>
          <a:prstGeom prst="rect">
            <a:avLst/>
          </a:prstGeom>
        </p:spPr>
      </p:pic>
      <p:sp>
        <p:nvSpPr>
          <p:cNvPr id="22" name="Text 17"/>
          <p:cNvSpPr/>
          <p:nvPr/>
        </p:nvSpPr>
        <p:spPr>
          <a:xfrm>
            <a:off x="8732520" y="3319272"/>
            <a:ext cx="269748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Execution Agent</a:t>
            </a:r>
            <a:endParaRPr lang="en-US" sz="1600" dirty="0"/>
          </a:p>
        </p:txBody>
      </p:sp>
      <p:sp>
        <p:nvSpPr>
          <p:cNvPr id="23" name="Text 18"/>
          <p:cNvSpPr/>
          <p:nvPr/>
        </p:nvSpPr>
        <p:spPr>
          <a:xfrm>
            <a:off x="8732520" y="3666744"/>
            <a:ext cx="2697480" cy="274320"/>
          </a:xfrm>
          <a:prstGeom prst="rect">
            <a:avLst/>
          </a:prstGeom>
          <a:noFill/>
          <a:ln/>
        </p:spPr>
        <p:txBody>
          <a:bodyPr wrap="square" lIns="0" tIns="0" rIns="0" bIns="0" rtlCol="0" anchor="ctr"/>
          <a:lstStyle/>
          <a:p>
            <a:pPr algn="ctr" indent="0" marL="0">
              <a:buNone/>
            </a:pPr>
            <a:r>
              <a:rPr lang="en-US" sz="1000" b="1" spc="120" kern="0" dirty="0">
                <a:solidFill>
                  <a:srgbClr val="F2A93B"/>
                </a:solidFill>
                <a:latin typeface="Calibri" pitchFamily="34" charset="0"/>
                <a:ea typeface="Calibri" pitchFamily="34" charset="-122"/>
                <a:cs typeface="Calibri" pitchFamily="34" charset="-120"/>
              </a:rPr>
              <a:t>ACTS &amp; NOTIFIES</a:t>
            </a:r>
            <a:endParaRPr lang="en-US" sz="1000" dirty="0"/>
          </a:p>
        </p:txBody>
      </p:sp>
      <p:sp>
        <p:nvSpPr>
          <p:cNvPr id="24" name="Text 19"/>
          <p:cNvSpPr/>
          <p:nvPr/>
        </p:nvSpPr>
        <p:spPr>
          <a:xfrm>
            <a:off x="8805672" y="4023360"/>
            <a:ext cx="2551176" cy="1280160"/>
          </a:xfrm>
          <a:prstGeom prst="rect">
            <a:avLst/>
          </a:prstGeom>
          <a:noFill/>
          <a:ln/>
        </p:spPr>
        <p:txBody>
          <a:bodyPr wrap="square" lIns="0" tIns="0" rIns="0" bIns="0" rtlCol="0" anchor="ctr"/>
          <a:lstStyle/>
          <a:p>
            <a:pPr algn="ctr" indent="0" marL="0">
              <a:lnSpc>
                <a:spcPct val="125000"/>
              </a:lnSpc>
              <a:buNone/>
            </a:pPr>
            <a:r>
              <a:rPr lang="en-US" sz="1100" dirty="0">
                <a:solidFill>
                  <a:srgbClr val="6C7599"/>
                </a:solidFill>
                <a:latin typeface="Calibri" pitchFamily="34" charset="0"/>
                <a:ea typeface="Calibri" pitchFamily="34" charset="-122"/>
                <a:cs typeface="Calibri" pitchFamily="34" charset="-120"/>
              </a:rPr>
              <a:t>Rebooks the carrier, updates the system of record, and notifies stakeholders.</a:t>
            </a:r>
            <a:endParaRPr lang="en-US" sz="1100" dirty="0"/>
          </a:p>
        </p:txBody>
      </p:sp>
      <p:sp>
        <p:nvSpPr>
          <p:cNvPr id="25" name="Shape 20"/>
          <p:cNvSpPr/>
          <p:nvPr/>
        </p:nvSpPr>
        <p:spPr>
          <a:xfrm>
            <a:off x="685800" y="5623560"/>
            <a:ext cx="10835640" cy="594360"/>
          </a:xfrm>
          <a:prstGeom prst="roundRect">
            <a:avLst>
              <a:gd name="adj" fmla="val 12308"/>
            </a:avLst>
          </a:prstGeom>
          <a:solidFill>
            <a:srgbClr val="141B49"/>
          </a:solidFill>
          <a:ln w="12700">
            <a:solidFill>
              <a:srgbClr val="3A4488"/>
            </a:solidFill>
            <a:prstDash val="solid"/>
          </a:ln>
        </p:spPr>
      </p:sp>
      <p:sp>
        <p:nvSpPr>
          <p:cNvPr id="26" name="Text 21"/>
          <p:cNvSpPr/>
          <p:nvPr/>
        </p:nvSpPr>
        <p:spPr>
          <a:xfrm>
            <a:off x="868680" y="5623560"/>
            <a:ext cx="10469880" cy="5943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SHARED STATE:  shipment_id • delay_reason • candidate_carriers • selected_route • audit_trail  —  persisted across every node in the graph</a:t>
            </a:r>
            <a:endParaRPr lang="en-US" sz="1100" dirty="0"/>
          </a:p>
        </p:txBody>
      </p:sp>
      <p:sp>
        <p:nvSpPr>
          <p:cNvPr id="27" name="Text 22"/>
          <p:cNvSpPr/>
          <p:nvPr/>
        </p:nvSpPr>
        <p:spPr>
          <a:xfrm>
            <a:off x="457200" y="6547104"/>
            <a:ext cx="8229600" cy="256032"/>
          </a:xfrm>
          <a:prstGeom prst="rect">
            <a:avLst/>
          </a:prstGeom>
          <a:noFill/>
          <a:ln/>
        </p:spPr>
        <p:txBody>
          <a:bodyPr wrap="square" lIns="0" tIns="0" rIns="0" bIns="0" rtlCol="0" anchor="ctr"/>
          <a:lstStyle/>
          <a:p>
            <a:pPr indent="0" marL="0">
              <a:buNone/>
            </a:pPr>
            <a:r>
              <a:rPr lang="en-US" sz="850" spc="100" kern="0" dirty="0">
                <a:solidFill>
                  <a:srgbClr val="8891C4"/>
                </a:solidFill>
                <a:latin typeface="Calibri" pitchFamily="34" charset="0"/>
                <a:ea typeface="Calibri" pitchFamily="34" charset="-122"/>
                <a:cs typeface="Calibri" pitchFamily="34" charset="-120"/>
              </a:rPr>
              <a:t>AUTONOMOUS LOGISTICS REROUTING  |  AI RESEARCHER ASSESSMENT</a:t>
            </a:r>
            <a:endParaRPr lang="en-US" sz="850" dirty="0"/>
          </a:p>
        </p:txBody>
      </p:sp>
      <p:sp>
        <p:nvSpPr>
          <p:cNvPr id="28" name="Text 23"/>
          <p:cNvSpPr/>
          <p:nvPr/>
        </p:nvSpPr>
        <p:spPr>
          <a:xfrm>
            <a:off x="11430000" y="6547104"/>
            <a:ext cx="365760" cy="256032"/>
          </a:xfrm>
          <a:prstGeom prst="rect">
            <a:avLst/>
          </a:prstGeom>
          <a:noFill/>
          <a:ln/>
        </p:spPr>
        <p:txBody>
          <a:bodyPr wrap="square" lIns="0" tIns="0" rIns="0" bIns="0" rtlCol="0" anchor="ctr"/>
          <a:lstStyle/>
          <a:p>
            <a:pPr algn="r" indent="0" marL="0">
              <a:buNone/>
            </a:pPr>
            <a:r>
              <a:rPr lang="en-US" sz="850" dirty="0">
                <a:solidFill>
                  <a:srgbClr val="8891C4"/>
                </a:solidFill>
                <a:latin typeface="Calibri" pitchFamily="34" charset="0"/>
                <a:ea typeface="Calibri" pitchFamily="34" charset="-122"/>
                <a:cs typeface="Calibri"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F2A93B"/>
                </a:solidFill>
                <a:latin typeface="Calibri" pitchFamily="34" charset="0"/>
                <a:ea typeface="Calibri" pitchFamily="34" charset="-122"/>
                <a:cs typeface="Calibri" pitchFamily="34" charset="-120"/>
              </a:rPr>
              <a:t>PART 1 — RESEARCH</a:t>
            </a:r>
            <a:endParaRPr lang="en-US" sz="125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Trajectory-based evaluation: judging the path,</a:t>
            </a:r>
            <a:endParaRPr lang="en-US" sz="3000" dirty="0"/>
          </a:p>
          <a:p>
            <a:pPr indent="0" marL="0">
              <a:buNone/>
            </a:pPr>
            <a:r>
              <a:rPr lang="en-US" sz="3000" b="1" dirty="0">
                <a:solidFill>
                  <a:srgbClr val="1E2761"/>
                </a:solidFill>
                <a:latin typeface="Cambria" pitchFamily="34" charset="0"/>
                <a:ea typeface="Cambria" pitchFamily="34" charset="-122"/>
                <a:cs typeface="Cambria" pitchFamily="34" charset="-120"/>
              </a:rPr>
              <a:t>not just the destination</a:t>
            </a:r>
            <a:endParaRPr lang="en-US" sz="3000" dirty="0"/>
          </a:p>
        </p:txBody>
      </p:sp>
      <p:sp>
        <p:nvSpPr>
          <p:cNvPr id="4" name="Text 2"/>
          <p:cNvSpPr/>
          <p:nvPr/>
        </p:nvSpPr>
        <p:spPr>
          <a:xfrm>
            <a:off x="548640" y="1600200"/>
            <a:ext cx="10881360" cy="502920"/>
          </a:xfrm>
          <a:prstGeom prst="rect">
            <a:avLst/>
          </a:prstGeom>
          <a:noFill/>
          <a:ln/>
        </p:spPr>
        <p:txBody>
          <a:bodyPr wrap="square" lIns="0" tIns="0" rIns="0" bIns="0" rtlCol="0" anchor="ctr"/>
          <a:lstStyle/>
          <a:p>
            <a:pPr indent="0" marL="0">
              <a:lnSpc>
                <a:spcPct val="120000"/>
              </a:lnSpc>
              <a:buNone/>
            </a:pPr>
            <a:r>
              <a:rPr lang="en-US" sz="1250" i="1" dirty="0">
                <a:solidFill>
                  <a:srgbClr val="6C7599"/>
                </a:solidFill>
                <a:latin typeface="Calibri" pitchFamily="34" charset="0"/>
                <a:ea typeface="Calibri" pitchFamily="34" charset="-122"/>
                <a:cs typeface="Calibri" pitchFamily="34" charset="-120"/>
              </a:rPr>
              <a:t>Two models can reach the same final answer through very different reasoning paths. For an autonomous agent, HOW it gets there determines whether it's safe to run unsupervised.</a:t>
            </a:r>
            <a:endParaRPr lang="en-US" sz="1250" dirty="0"/>
          </a:p>
        </p:txBody>
      </p:sp>
      <p:sp>
        <p:nvSpPr>
          <p:cNvPr id="5" name="Shape 3"/>
          <p:cNvSpPr/>
          <p:nvPr/>
        </p:nvSpPr>
        <p:spPr>
          <a:xfrm>
            <a:off x="548640" y="2331720"/>
            <a:ext cx="5349240" cy="1207008"/>
          </a:xfrm>
          <a:prstGeom prst="roundRect">
            <a:avLst>
              <a:gd name="adj" fmla="val 6061"/>
            </a:avLst>
          </a:prstGeom>
          <a:solidFill>
            <a:srgbClr val="EEF3FE"/>
          </a:solidFill>
          <a:ln/>
        </p:spPr>
      </p:sp>
      <p:sp>
        <p:nvSpPr>
          <p:cNvPr id="6" name="Shape 4"/>
          <p:cNvSpPr/>
          <p:nvPr/>
        </p:nvSpPr>
        <p:spPr>
          <a:xfrm>
            <a:off x="731520" y="2761488"/>
            <a:ext cx="347472" cy="347472"/>
          </a:xfrm>
          <a:prstGeom prst="ellipse">
            <a:avLst/>
          </a:prstGeom>
          <a:solidFill>
            <a:srgbClr val="F2A93B"/>
          </a:solidFill>
          <a:ln/>
        </p:spPr>
      </p:sp>
      <p:sp>
        <p:nvSpPr>
          <p:cNvPr id="7" name="Text 5"/>
          <p:cNvSpPr/>
          <p:nvPr/>
        </p:nvSpPr>
        <p:spPr>
          <a:xfrm>
            <a:off x="731520" y="2761488"/>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34440" y="2450592"/>
            <a:ext cx="443484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Intermediate Reasoning</a:t>
            </a:r>
            <a:endParaRPr lang="en-US" sz="1350" dirty="0"/>
          </a:p>
        </p:txBody>
      </p:sp>
      <p:sp>
        <p:nvSpPr>
          <p:cNvPr id="9" name="Text 7"/>
          <p:cNvSpPr/>
          <p:nvPr/>
        </p:nvSpPr>
        <p:spPr>
          <a:xfrm>
            <a:off x="1234440" y="2788920"/>
            <a:ext cx="4434840" cy="658368"/>
          </a:xfrm>
          <a:prstGeom prst="rect">
            <a:avLst/>
          </a:prstGeom>
          <a:noFill/>
          <a:ln/>
        </p:spPr>
        <p:txBody>
          <a:bodyPr wrap="square" lIns="0" tIns="0" rIns="0" bIns="0" rtlCol="0" anchor="ctr"/>
          <a:lstStyle/>
          <a:p>
            <a:pPr indent="0" marL="0">
              <a:lnSpc>
                <a:spcPct val="115000"/>
              </a:lnSpc>
              <a:buNone/>
            </a:pPr>
            <a:r>
              <a:rPr lang="en-US" sz="1050" dirty="0">
                <a:solidFill>
                  <a:srgbClr val="6C7599"/>
                </a:solidFill>
                <a:latin typeface="Calibri" pitchFamily="34" charset="0"/>
                <a:ea typeface="Calibri" pitchFamily="34" charset="-122"/>
                <a:cs typeface="Calibri" pitchFamily="34" charset="-120"/>
              </a:rPr>
              <a:t>Is the chain of thought sound at each step, not just the final output?</a:t>
            </a:r>
            <a:endParaRPr lang="en-US" sz="1050" dirty="0"/>
          </a:p>
        </p:txBody>
      </p:sp>
      <p:sp>
        <p:nvSpPr>
          <p:cNvPr id="10" name="Shape 8"/>
          <p:cNvSpPr/>
          <p:nvPr/>
        </p:nvSpPr>
        <p:spPr>
          <a:xfrm>
            <a:off x="6172200" y="2331720"/>
            <a:ext cx="5349240" cy="1207008"/>
          </a:xfrm>
          <a:prstGeom prst="roundRect">
            <a:avLst>
              <a:gd name="adj" fmla="val 6061"/>
            </a:avLst>
          </a:prstGeom>
          <a:solidFill>
            <a:srgbClr val="EEF3FE"/>
          </a:solidFill>
          <a:ln/>
        </p:spPr>
      </p:sp>
      <p:sp>
        <p:nvSpPr>
          <p:cNvPr id="11" name="Shape 9"/>
          <p:cNvSpPr/>
          <p:nvPr/>
        </p:nvSpPr>
        <p:spPr>
          <a:xfrm>
            <a:off x="6355080" y="2761488"/>
            <a:ext cx="347472" cy="347472"/>
          </a:xfrm>
          <a:prstGeom prst="ellipse">
            <a:avLst/>
          </a:prstGeom>
          <a:solidFill>
            <a:srgbClr val="F2A93B"/>
          </a:solidFill>
          <a:ln/>
        </p:spPr>
      </p:sp>
      <p:sp>
        <p:nvSpPr>
          <p:cNvPr id="12" name="Text 10"/>
          <p:cNvSpPr/>
          <p:nvPr/>
        </p:nvSpPr>
        <p:spPr>
          <a:xfrm>
            <a:off x="6355080" y="2761488"/>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6858000" y="2450592"/>
            <a:ext cx="443484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Tool Calling</a:t>
            </a:r>
            <a:endParaRPr lang="en-US" sz="1350" dirty="0"/>
          </a:p>
        </p:txBody>
      </p:sp>
      <p:sp>
        <p:nvSpPr>
          <p:cNvPr id="14" name="Text 12"/>
          <p:cNvSpPr/>
          <p:nvPr/>
        </p:nvSpPr>
        <p:spPr>
          <a:xfrm>
            <a:off x="6858000" y="2788920"/>
            <a:ext cx="4434840" cy="658368"/>
          </a:xfrm>
          <a:prstGeom prst="rect">
            <a:avLst/>
          </a:prstGeom>
          <a:noFill/>
          <a:ln/>
        </p:spPr>
        <p:txBody>
          <a:bodyPr wrap="square" lIns="0" tIns="0" rIns="0" bIns="0" rtlCol="0" anchor="ctr"/>
          <a:lstStyle/>
          <a:p>
            <a:pPr indent="0" marL="0">
              <a:lnSpc>
                <a:spcPct val="115000"/>
              </a:lnSpc>
              <a:buNone/>
            </a:pPr>
            <a:r>
              <a:rPr lang="en-US" sz="1050" dirty="0">
                <a:solidFill>
                  <a:srgbClr val="6C7599"/>
                </a:solidFill>
                <a:latin typeface="Calibri" pitchFamily="34" charset="0"/>
                <a:ea typeface="Calibri" pitchFamily="34" charset="-122"/>
                <a:cs typeface="Calibri" pitchFamily="34" charset="-120"/>
              </a:rPr>
              <a:t>Does it choose the right tool, with correctly-formed arguments, at the right time?</a:t>
            </a:r>
            <a:endParaRPr lang="en-US" sz="1050" dirty="0"/>
          </a:p>
        </p:txBody>
      </p:sp>
      <p:sp>
        <p:nvSpPr>
          <p:cNvPr id="15" name="Shape 13"/>
          <p:cNvSpPr/>
          <p:nvPr/>
        </p:nvSpPr>
        <p:spPr>
          <a:xfrm>
            <a:off x="548640" y="3703320"/>
            <a:ext cx="5349240" cy="1207008"/>
          </a:xfrm>
          <a:prstGeom prst="roundRect">
            <a:avLst>
              <a:gd name="adj" fmla="val 6061"/>
            </a:avLst>
          </a:prstGeom>
          <a:solidFill>
            <a:srgbClr val="EEF3FE"/>
          </a:solidFill>
          <a:ln/>
        </p:spPr>
      </p:sp>
      <p:sp>
        <p:nvSpPr>
          <p:cNvPr id="16" name="Shape 14"/>
          <p:cNvSpPr/>
          <p:nvPr/>
        </p:nvSpPr>
        <p:spPr>
          <a:xfrm>
            <a:off x="731520" y="4133088"/>
            <a:ext cx="347472" cy="347472"/>
          </a:xfrm>
          <a:prstGeom prst="ellipse">
            <a:avLst/>
          </a:prstGeom>
          <a:solidFill>
            <a:srgbClr val="F2A93B"/>
          </a:solidFill>
          <a:ln/>
        </p:spPr>
      </p:sp>
      <p:sp>
        <p:nvSpPr>
          <p:cNvPr id="17" name="Text 15"/>
          <p:cNvSpPr/>
          <p:nvPr/>
        </p:nvSpPr>
        <p:spPr>
          <a:xfrm>
            <a:off x="731520" y="4133088"/>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234440" y="3822192"/>
            <a:ext cx="443484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Multi-Step Planning</a:t>
            </a:r>
            <a:endParaRPr lang="en-US" sz="1350" dirty="0"/>
          </a:p>
        </p:txBody>
      </p:sp>
      <p:sp>
        <p:nvSpPr>
          <p:cNvPr id="19" name="Text 17"/>
          <p:cNvSpPr/>
          <p:nvPr/>
        </p:nvSpPr>
        <p:spPr>
          <a:xfrm>
            <a:off x="1234440" y="4160520"/>
            <a:ext cx="4434840" cy="658368"/>
          </a:xfrm>
          <a:prstGeom prst="rect">
            <a:avLst/>
          </a:prstGeom>
          <a:noFill/>
          <a:ln/>
        </p:spPr>
        <p:txBody>
          <a:bodyPr wrap="square" lIns="0" tIns="0" rIns="0" bIns="0" rtlCol="0" anchor="ctr"/>
          <a:lstStyle/>
          <a:p>
            <a:pPr indent="0" marL="0">
              <a:lnSpc>
                <a:spcPct val="115000"/>
              </a:lnSpc>
              <a:buNone/>
            </a:pPr>
            <a:r>
              <a:rPr lang="en-US" sz="1050" dirty="0">
                <a:solidFill>
                  <a:srgbClr val="6C7599"/>
                </a:solidFill>
                <a:latin typeface="Calibri" pitchFamily="34" charset="0"/>
                <a:ea typeface="Calibri" pitchFamily="34" charset="-122"/>
                <a:cs typeface="Calibri" pitchFamily="34" charset="-120"/>
              </a:rPr>
              <a:t>Can it sequence dependent actions (compare → select → execute) coherently?</a:t>
            </a:r>
            <a:endParaRPr lang="en-US" sz="1050" dirty="0"/>
          </a:p>
        </p:txBody>
      </p:sp>
      <p:sp>
        <p:nvSpPr>
          <p:cNvPr id="20" name="Shape 18"/>
          <p:cNvSpPr/>
          <p:nvPr/>
        </p:nvSpPr>
        <p:spPr>
          <a:xfrm>
            <a:off x="6172200" y="3703320"/>
            <a:ext cx="5349240" cy="1207008"/>
          </a:xfrm>
          <a:prstGeom prst="roundRect">
            <a:avLst>
              <a:gd name="adj" fmla="val 6061"/>
            </a:avLst>
          </a:prstGeom>
          <a:solidFill>
            <a:srgbClr val="EEF3FE"/>
          </a:solidFill>
          <a:ln/>
        </p:spPr>
      </p:sp>
      <p:sp>
        <p:nvSpPr>
          <p:cNvPr id="21" name="Shape 19"/>
          <p:cNvSpPr/>
          <p:nvPr/>
        </p:nvSpPr>
        <p:spPr>
          <a:xfrm>
            <a:off x="6355080" y="4133088"/>
            <a:ext cx="347472" cy="347472"/>
          </a:xfrm>
          <a:prstGeom prst="ellipse">
            <a:avLst/>
          </a:prstGeom>
          <a:solidFill>
            <a:srgbClr val="F2A93B"/>
          </a:solidFill>
          <a:ln/>
        </p:spPr>
      </p:sp>
      <p:sp>
        <p:nvSpPr>
          <p:cNvPr id="22" name="Text 20"/>
          <p:cNvSpPr/>
          <p:nvPr/>
        </p:nvSpPr>
        <p:spPr>
          <a:xfrm>
            <a:off x="6355080" y="4133088"/>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6858000" y="3822192"/>
            <a:ext cx="443484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Error Recovery</a:t>
            </a:r>
            <a:endParaRPr lang="en-US" sz="1350" dirty="0"/>
          </a:p>
        </p:txBody>
      </p:sp>
      <p:sp>
        <p:nvSpPr>
          <p:cNvPr id="24" name="Text 22"/>
          <p:cNvSpPr/>
          <p:nvPr/>
        </p:nvSpPr>
        <p:spPr>
          <a:xfrm>
            <a:off x="6858000" y="4160520"/>
            <a:ext cx="4434840" cy="658368"/>
          </a:xfrm>
          <a:prstGeom prst="rect">
            <a:avLst/>
          </a:prstGeom>
          <a:noFill/>
          <a:ln/>
        </p:spPr>
        <p:txBody>
          <a:bodyPr wrap="square" lIns="0" tIns="0" rIns="0" bIns="0" rtlCol="0" anchor="ctr"/>
          <a:lstStyle/>
          <a:p>
            <a:pPr indent="0" marL="0">
              <a:lnSpc>
                <a:spcPct val="115000"/>
              </a:lnSpc>
              <a:buNone/>
            </a:pPr>
            <a:r>
              <a:rPr lang="en-US" sz="1050" dirty="0">
                <a:solidFill>
                  <a:srgbClr val="6C7599"/>
                </a:solidFill>
                <a:latin typeface="Calibri" pitchFamily="34" charset="0"/>
                <a:ea typeface="Calibri" pitchFamily="34" charset="-122"/>
                <a:cs typeface="Calibri" pitchFamily="34" charset="-120"/>
              </a:rPr>
              <a:t>When a tool call fails or returns bad data, does it retry, adapt, or escalate?</a:t>
            </a:r>
            <a:endParaRPr lang="en-US" sz="1050" dirty="0"/>
          </a:p>
        </p:txBody>
      </p:sp>
      <p:sp>
        <p:nvSpPr>
          <p:cNvPr id="25" name="Shape 23"/>
          <p:cNvSpPr/>
          <p:nvPr/>
        </p:nvSpPr>
        <p:spPr>
          <a:xfrm>
            <a:off x="548640" y="5074920"/>
            <a:ext cx="5349240" cy="1207008"/>
          </a:xfrm>
          <a:prstGeom prst="roundRect">
            <a:avLst>
              <a:gd name="adj" fmla="val 6061"/>
            </a:avLst>
          </a:prstGeom>
          <a:solidFill>
            <a:srgbClr val="EEF3FE"/>
          </a:solidFill>
          <a:ln/>
        </p:spPr>
      </p:sp>
      <p:sp>
        <p:nvSpPr>
          <p:cNvPr id="26" name="Shape 24"/>
          <p:cNvSpPr/>
          <p:nvPr/>
        </p:nvSpPr>
        <p:spPr>
          <a:xfrm>
            <a:off x="731520" y="5504688"/>
            <a:ext cx="347472" cy="347472"/>
          </a:xfrm>
          <a:prstGeom prst="ellipse">
            <a:avLst/>
          </a:prstGeom>
          <a:solidFill>
            <a:srgbClr val="F2A93B"/>
          </a:solidFill>
          <a:ln/>
        </p:spPr>
      </p:sp>
      <p:sp>
        <p:nvSpPr>
          <p:cNvPr id="27" name="Text 25"/>
          <p:cNvSpPr/>
          <p:nvPr/>
        </p:nvSpPr>
        <p:spPr>
          <a:xfrm>
            <a:off x="731520" y="5504688"/>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1234440" y="5193792"/>
            <a:ext cx="443484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Workflow Completion</a:t>
            </a:r>
            <a:endParaRPr lang="en-US" sz="1350" dirty="0"/>
          </a:p>
        </p:txBody>
      </p:sp>
      <p:sp>
        <p:nvSpPr>
          <p:cNvPr id="29" name="Text 27"/>
          <p:cNvSpPr/>
          <p:nvPr/>
        </p:nvSpPr>
        <p:spPr>
          <a:xfrm>
            <a:off x="1234440" y="5532120"/>
            <a:ext cx="4434840" cy="658368"/>
          </a:xfrm>
          <a:prstGeom prst="rect">
            <a:avLst/>
          </a:prstGeom>
          <a:noFill/>
          <a:ln/>
        </p:spPr>
        <p:txBody>
          <a:bodyPr wrap="square" lIns="0" tIns="0" rIns="0" bIns="0" rtlCol="0" anchor="ctr"/>
          <a:lstStyle/>
          <a:p>
            <a:pPr indent="0" marL="0">
              <a:lnSpc>
                <a:spcPct val="115000"/>
              </a:lnSpc>
              <a:buNone/>
            </a:pPr>
            <a:r>
              <a:rPr lang="en-US" sz="1050" dirty="0">
                <a:solidFill>
                  <a:srgbClr val="6C7599"/>
                </a:solidFill>
                <a:latin typeface="Calibri" pitchFamily="34" charset="0"/>
                <a:ea typeface="Calibri" pitchFamily="34" charset="-122"/>
                <a:cs typeface="Calibri" pitchFamily="34" charset="-120"/>
              </a:rPr>
              <a:t>Does the full task finish end-to-end, or stall partway through the graph?</a:t>
            </a:r>
            <a:endParaRPr lang="en-US" sz="1050" dirty="0"/>
          </a:p>
        </p:txBody>
      </p:sp>
      <p:sp>
        <p:nvSpPr>
          <p:cNvPr id="30" name="Shape 28"/>
          <p:cNvSpPr/>
          <p:nvPr/>
        </p:nvSpPr>
        <p:spPr>
          <a:xfrm>
            <a:off x="6172200" y="5074920"/>
            <a:ext cx="5349240" cy="1207008"/>
          </a:xfrm>
          <a:prstGeom prst="roundRect">
            <a:avLst>
              <a:gd name="adj" fmla="val 6061"/>
            </a:avLst>
          </a:prstGeom>
          <a:solidFill>
            <a:srgbClr val="EEF3FE"/>
          </a:solidFill>
          <a:ln/>
        </p:spPr>
      </p:sp>
      <p:sp>
        <p:nvSpPr>
          <p:cNvPr id="31" name="Shape 29"/>
          <p:cNvSpPr/>
          <p:nvPr/>
        </p:nvSpPr>
        <p:spPr>
          <a:xfrm>
            <a:off x="6355080" y="5504688"/>
            <a:ext cx="347472" cy="347472"/>
          </a:xfrm>
          <a:prstGeom prst="ellipse">
            <a:avLst/>
          </a:prstGeom>
          <a:solidFill>
            <a:srgbClr val="F2A93B"/>
          </a:solidFill>
          <a:ln/>
        </p:spPr>
      </p:sp>
      <p:sp>
        <p:nvSpPr>
          <p:cNvPr id="32" name="Text 30"/>
          <p:cNvSpPr/>
          <p:nvPr/>
        </p:nvSpPr>
        <p:spPr>
          <a:xfrm>
            <a:off x="6355080" y="5504688"/>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6858000" y="5193792"/>
            <a:ext cx="443484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Decision Consistency</a:t>
            </a:r>
            <a:endParaRPr lang="en-US" sz="1350" dirty="0"/>
          </a:p>
        </p:txBody>
      </p:sp>
      <p:sp>
        <p:nvSpPr>
          <p:cNvPr id="34" name="Text 32"/>
          <p:cNvSpPr/>
          <p:nvPr/>
        </p:nvSpPr>
        <p:spPr>
          <a:xfrm>
            <a:off x="6858000" y="5532120"/>
            <a:ext cx="4434840" cy="658368"/>
          </a:xfrm>
          <a:prstGeom prst="rect">
            <a:avLst/>
          </a:prstGeom>
          <a:noFill/>
          <a:ln/>
        </p:spPr>
        <p:txBody>
          <a:bodyPr wrap="square" lIns="0" tIns="0" rIns="0" bIns="0" rtlCol="0" anchor="ctr"/>
          <a:lstStyle/>
          <a:p>
            <a:pPr indent="0" marL="0">
              <a:lnSpc>
                <a:spcPct val="115000"/>
              </a:lnSpc>
              <a:buNone/>
            </a:pPr>
            <a:r>
              <a:rPr lang="en-US" sz="1050" dirty="0">
                <a:solidFill>
                  <a:srgbClr val="6C7599"/>
                </a:solidFill>
                <a:latin typeface="Calibri" pitchFamily="34" charset="0"/>
                <a:ea typeface="Calibri" pitchFamily="34" charset="-122"/>
                <a:cs typeface="Calibri" pitchFamily="34" charset="-120"/>
              </a:rPr>
              <a:t>Given similar inputs, does it make similar, explainable decisions?</a:t>
            </a:r>
            <a:endParaRPr lang="en-US" sz="1050" dirty="0"/>
          </a:p>
        </p:txBody>
      </p:sp>
      <p:sp>
        <p:nvSpPr>
          <p:cNvPr id="35" name="Text 33"/>
          <p:cNvSpPr/>
          <p:nvPr/>
        </p:nvSpPr>
        <p:spPr>
          <a:xfrm>
            <a:off x="457200" y="6547104"/>
            <a:ext cx="8229600" cy="256032"/>
          </a:xfrm>
          <a:prstGeom prst="rect">
            <a:avLst/>
          </a:prstGeom>
          <a:noFill/>
          <a:ln/>
        </p:spPr>
        <p:txBody>
          <a:bodyPr wrap="square" lIns="0" tIns="0" rIns="0" bIns="0" rtlCol="0" anchor="ctr"/>
          <a:lstStyle/>
          <a:p>
            <a:pPr indent="0" marL="0">
              <a:buNone/>
            </a:pPr>
            <a:r>
              <a:rPr lang="en-US" sz="850" spc="100" kern="0" dirty="0">
                <a:solidFill>
                  <a:srgbClr val="6C7599"/>
                </a:solidFill>
                <a:latin typeface="Calibri" pitchFamily="34" charset="0"/>
                <a:ea typeface="Calibri" pitchFamily="34" charset="-122"/>
                <a:cs typeface="Calibri" pitchFamily="34" charset="-120"/>
              </a:rPr>
              <a:t>AUTONOMOUS LOGISTICS REROUTING  |  AI RESEARCHER ASSESSMENT</a:t>
            </a:r>
            <a:endParaRPr lang="en-US" sz="850" dirty="0"/>
          </a:p>
        </p:txBody>
      </p:sp>
      <p:sp>
        <p:nvSpPr>
          <p:cNvPr id="36" name="Text 34"/>
          <p:cNvSpPr/>
          <p:nvPr/>
        </p:nvSpPr>
        <p:spPr>
          <a:xfrm>
            <a:off x="11430000" y="6547104"/>
            <a:ext cx="365760" cy="256032"/>
          </a:xfrm>
          <a:prstGeom prst="rect">
            <a:avLst/>
          </a:prstGeom>
          <a:noFill/>
          <a:ln/>
        </p:spPr>
        <p:txBody>
          <a:bodyPr wrap="square" lIns="0" tIns="0" rIns="0" bIns="0" rtlCol="0" anchor="ctr"/>
          <a:lstStyle/>
          <a:p>
            <a:pPr algn="r" indent="0" marL="0">
              <a:buNone/>
            </a:pPr>
            <a:r>
              <a:rPr lang="en-US" sz="850" dirty="0">
                <a:solidFill>
                  <a:srgbClr val="6C7599"/>
                </a:solidFill>
                <a:latin typeface="Calibri" pitchFamily="34" charset="0"/>
                <a:ea typeface="Calibri" pitchFamily="34" charset="-122"/>
                <a:cs typeface="Calibri"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F2A93B"/>
                </a:solidFill>
                <a:latin typeface="Calibri" pitchFamily="34" charset="0"/>
                <a:ea typeface="Calibri" pitchFamily="34" charset="-122"/>
                <a:cs typeface="Calibri" pitchFamily="34" charset="-120"/>
              </a:rPr>
              <a:t>PART 1 — RESEARCH</a:t>
            </a:r>
            <a:endParaRPr lang="en-US" sz="125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GPT-5 vs. Llama 3.3 70B, head to head</a:t>
            </a:r>
            <a:endParaRPr lang="en-US" sz="3000" dirty="0"/>
          </a:p>
        </p:txBody>
      </p:sp>
      <p:sp>
        <p:nvSpPr>
          <p:cNvPr id="4" name="Shape 2"/>
          <p:cNvSpPr/>
          <p:nvPr/>
        </p:nvSpPr>
        <p:spPr>
          <a:xfrm>
            <a:off x="548640" y="1554480"/>
            <a:ext cx="5257800" cy="4572000"/>
          </a:xfrm>
          <a:prstGeom prst="roundRect">
            <a:avLst>
              <a:gd name="adj" fmla="val 2000"/>
            </a:avLst>
          </a:prstGeom>
          <a:solidFill>
            <a:srgbClr val="FFFFFF"/>
          </a:solidFill>
          <a:ln w="15875">
            <a:solidFill>
              <a:srgbClr val="CADCFC"/>
            </a:solidFill>
            <a:prstDash val="solid"/>
          </a:ln>
          <a:effectLst>
            <a:outerShdw sx="100000" sy="100000" kx="0" ky="0" algn="bl" rotWithShape="0" blurRad="76200" dist="25400" dir="5400000">
              <a:srgbClr val="1B2340">
                <a:alpha val="15000"/>
              </a:srgbClr>
            </a:outerShdw>
          </a:effectLst>
        </p:spPr>
      </p:sp>
      <p:sp>
        <p:nvSpPr>
          <p:cNvPr id="5" name="Shape 3"/>
          <p:cNvSpPr/>
          <p:nvPr/>
        </p:nvSpPr>
        <p:spPr>
          <a:xfrm>
            <a:off x="548640" y="1554480"/>
            <a:ext cx="5257800" cy="868680"/>
          </a:xfrm>
          <a:prstGeom prst="roundRect">
            <a:avLst>
              <a:gd name="adj" fmla="val 10526"/>
            </a:avLst>
          </a:prstGeom>
          <a:solidFill>
            <a:srgbClr val="1E2761"/>
          </a:solidFill>
          <a:ln/>
        </p:spPr>
      </p:sp>
      <p:sp>
        <p:nvSpPr>
          <p:cNvPr id="6" name="Shape 4"/>
          <p:cNvSpPr/>
          <p:nvPr/>
        </p:nvSpPr>
        <p:spPr>
          <a:xfrm>
            <a:off x="548640" y="2011680"/>
            <a:ext cx="5257800" cy="411480"/>
          </a:xfrm>
          <a:prstGeom prst="rect">
            <a:avLst/>
          </a:prstGeom>
          <a:solidFill>
            <a:srgbClr val="1E2761"/>
          </a:solidFill>
          <a:ln/>
        </p:spPr>
      </p:sp>
      <p:pic>
        <p:nvPicPr>
          <p:cNvPr id="7" name="Image 0" descr="/home/claude/deck/assets/icons/gpt5.png">    </p:cNvPr>
          <p:cNvPicPr>
            <a:picLocks noChangeAspect="1"/>
          </p:cNvPicPr>
          <p:nvPr/>
        </p:nvPicPr>
        <p:blipFill>
          <a:blip r:embed="rId1"/>
          <a:stretch>
            <a:fillRect/>
          </a:stretch>
        </p:blipFill>
        <p:spPr>
          <a:xfrm>
            <a:off x="822960" y="1755648"/>
            <a:ext cx="457200" cy="457200"/>
          </a:xfrm>
          <a:prstGeom prst="rect">
            <a:avLst/>
          </a:prstGeom>
        </p:spPr>
      </p:pic>
      <p:sp>
        <p:nvSpPr>
          <p:cNvPr id="8" name="Text 5"/>
          <p:cNvSpPr/>
          <p:nvPr/>
        </p:nvSpPr>
        <p:spPr>
          <a:xfrm>
            <a:off x="1417320" y="1682496"/>
            <a:ext cx="41605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GPT-5</a:t>
            </a:r>
            <a:endParaRPr lang="en-US" sz="1900" dirty="0"/>
          </a:p>
        </p:txBody>
      </p:sp>
      <p:sp>
        <p:nvSpPr>
          <p:cNvPr id="9" name="Text 6"/>
          <p:cNvSpPr/>
          <p:nvPr/>
        </p:nvSpPr>
        <p:spPr>
          <a:xfrm>
            <a:off x="1417320" y="2039112"/>
            <a:ext cx="4160520" cy="274320"/>
          </a:xfrm>
          <a:prstGeom prst="rect">
            <a:avLst/>
          </a:prstGeom>
          <a:noFill/>
          <a:ln/>
        </p:spPr>
        <p:txBody>
          <a:bodyPr wrap="square" lIns="0" tIns="0" rIns="0" bIns="0" rtlCol="0" anchor="ctr"/>
          <a:lstStyle/>
          <a:p>
            <a:pPr indent="0" marL="0">
              <a:buNone/>
            </a:pPr>
            <a:r>
              <a:rPr lang="en-US" sz="950" spc="100" kern="0" dirty="0">
                <a:solidFill>
                  <a:srgbClr val="CADCFC"/>
                </a:solidFill>
                <a:latin typeface="Calibri" pitchFamily="34" charset="0"/>
                <a:ea typeface="Calibri" pitchFamily="34" charset="-122"/>
                <a:cs typeface="Calibri" pitchFamily="34" charset="-120"/>
              </a:rPr>
              <a:t>CLOSED-SOURCE • HOSTED API</a:t>
            </a:r>
            <a:endParaRPr lang="en-US" sz="950" dirty="0"/>
          </a:p>
        </p:txBody>
      </p:sp>
      <p:sp>
        <p:nvSpPr>
          <p:cNvPr id="10" name="Text 7"/>
          <p:cNvSpPr/>
          <p:nvPr/>
        </p:nvSpPr>
        <p:spPr>
          <a:xfrm>
            <a:off x="822960" y="2633472"/>
            <a:ext cx="470916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Reasoning depth</a:t>
            </a:r>
            <a:endParaRPr lang="en-US" sz="1200" dirty="0"/>
          </a:p>
        </p:txBody>
      </p:sp>
      <p:sp>
        <p:nvSpPr>
          <p:cNvPr id="11" name="Text 8"/>
          <p:cNvSpPr/>
          <p:nvPr/>
        </p:nvSpPr>
        <p:spPr>
          <a:xfrm>
            <a:off x="822960" y="2880360"/>
            <a:ext cx="4709160" cy="457200"/>
          </a:xfrm>
          <a:prstGeom prst="rect">
            <a:avLst/>
          </a:prstGeom>
          <a:noFill/>
          <a:ln/>
        </p:spPr>
        <p:txBody>
          <a:bodyPr wrap="square" lIns="0" tIns="0" rIns="0" bIns="0" rtlCol="0" anchor="ctr"/>
          <a:lstStyle/>
          <a:p>
            <a:pPr indent="0" marL="0">
              <a:lnSpc>
                <a:spcPct val="115000"/>
              </a:lnSpc>
              <a:buNone/>
            </a:pPr>
            <a:r>
              <a:rPr lang="en-US" sz="1080" dirty="0">
                <a:solidFill>
                  <a:srgbClr val="6C7599"/>
                </a:solidFill>
                <a:latin typeface="Calibri" pitchFamily="34" charset="0"/>
                <a:ea typeface="Calibri" pitchFamily="34" charset="-122"/>
                <a:cs typeface="Calibri" pitchFamily="34" charset="-120"/>
              </a:rPr>
              <a:t>Strongest multi-step, chained reasoning in the comparison set</a:t>
            </a:r>
            <a:endParaRPr lang="en-US" sz="1080" dirty="0"/>
          </a:p>
        </p:txBody>
      </p:sp>
      <p:sp>
        <p:nvSpPr>
          <p:cNvPr id="12" name="Text 9"/>
          <p:cNvSpPr/>
          <p:nvPr/>
        </p:nvSpPr>
        <p:spPr>
          <a:xfrm>
            <a:off x="822960" y="3346704"/>
            <a:ext cx="470916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Tool orchestration</a:t>
            </a:r>
            <a:endParaRPr lang="en-US" sz="1200" dirty="0"/>
          </a:p>
        </p:txBody>
      </p:sp>
      <p:sp>
        <p:nvSpPr>
          <p:cNvPr id="13" name="Text 10"/>
          <p:cNvSpPr/>
          <p:nvPr/>
        </p:nvSpPr>
        <p:spPr>
          <a:xfrm>
            <a:off x="822960" y="3593592"/>
            <a:ext cx="4709160" cy="457200"/>
          </a:xfrm>
          <a:prstGeom prst="rect">
            <a:avLst/>
          </a:prstGeom>
          <a:noFill/>
          <a:ln/>
        </p:spPr>
        <p:txBody>
          <a:bodyPr wrap="square" lIns="0" tIns="0" rIns="0" bIns="0" rtlCol="0" anchor="ctr"/>
          <a:lstStyle/>
          <a:p>
            <a:pPr indent="0" marL="0">
              <a:lnSpc>
                <a:spcPct val="115000"/>
              </a:lnSpc>
              <a:buNone/>
            </a:pPr>
            <a:r>
              <a:rPr lang="en-US" sz="1080" dirty="0">
                <a:solidFill>
                  <a:srgbClr val="6C7599"/>
                </a:solidFill>
                <a:latin typeface="Calibri" pitchFamily="34" charset="0"/>
                <a:ea typeface="Calibri" pitchFamily="34" charset="-122"/>
                <a:cs typeface="Calibri" pitchFamily="34" charset="-120"/>
              </a:rPr>
              <a:t>Reliably sequences dependent tool calls with correct arguments</a:t>
            </a:r>
            <a:endParaRPr lang="en-US" sz="1080" dirty="0"/>
          </a:p>
        </p:txBody>
      </p:sp>
      <p:sp>
        <p:nvSpPr>
          <p:cNvPr id="14" name="Text 11"/>
          <p:cNvSpPr/>
          <p:nvPr/>
        </p:nvSpPr>
        <p:spPr>
          <a:xfrm>
            <a:off x="822960" y="4059936"/>
            <a:ext cx="470916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Error handling</a:t>
            </a:r>
            <a:endParaRPr lang="en-US" sz="1200" dirty="0"/>
          </a:p>
        </p:txBody>
      </p:sp>
      <p:sp>
        <p:nvSpPr>
          <p:cNvPr id="15" name="Text 12"/>
          <p:cNvSpPr/>
          <p:nvPr/>
        </p:nvSpPr>
        <p:spPr>
          <a:xfrm>
            <a:off x="822960" y="4306824"/>
            <a:ext cx="4709160" cy="457200"/>
          </a:xfrm>
          <a:prstGeom prst="rect">
            <a:avLst/>
          </a:prstGeom>
          <a:noFill/>
          <a:ln/>
        </p:spPr>
        <p:txBody>
          <a:bodyPr wrap="square" lIns="0" tIns="0" rIns="0" bIns="0" rtlCol="0" anchor="ctr"/>
          <a:lstStyle/>
          <a:p>
            <a:pPr indent="0" marL="0">
              <a:lnSpc>
                <a:spcPct val="115000"/>
              </a:lnSpc>
              <a:buNone/>
            </a:pPr>
            <a:r>
              <a:rPr lang="en-US" sz="1080" dirty="0">
                <a:solidFill>
                  <a:srgbClr val="6C7599"/>
                </a:solidFill>
                <a:latin typeface="Calibri" pitchFamily="34" charset="0"/>
                <a:ea typeface="Calibri" pitchFamily="34" charset="-122"/>
                <a:cs typeface="Calibri" pitchFamily="34" charset="-120"/>
              </a:rPr>
              <a:t>Recognizes failed calls and adapts without human intervention</a:t>
            </a:r>
            <a:endParaRPr lang="en-US" sz="1080" dirty="0"/>
          </a:p>
        </p:txBody>
      </p:sp>
      <p:sp>
        <p:nvSpPr>
          <p:cNvPr id="16" name="Text 13"/>
          <p:cNvSpPr/>
          <p:nvPr/>
        </p:nvSpPr>
        <p:spPr>
          <a:xfrm>
            <a:off x="822960" y="4773168"/>
            <a:ext cx="470916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Cost &amp; latency</a:t>
            </a:r>
            <a:endParaRPr lang="en-US" sz="1200" dirty="0"/>
          </a:p>
        </p:txBody>
      </p:sp>
      <p:sp>
        <p:nvSpPr>
          <p:cNvPr id="17" name="Text 14"/>
          <p:cNvSpPr/>
          <p:nvPr/>
        </p:nvSpPr>
        <p:spPr>
          <a:xfrm>
            <a:off x="822960" y="5020056"/>
            <a:ext cx="4709160" cy="457200"/>
          </a:xfrm>
          <a:prstGeom prst="rect">
            <a:avLst/>
          </a:prstGeom>
          <a:noFill/>
          <a:ln/>
        </p:spPr>
        <p:txBody>
          <a:bodyPr wrap="square" lIns="0" tIns="0" rIns="0" bIns="0" rtlCol="0" anchor="ctr"/>
          <a:lstStyle/>
          <a:p>
            <a:pPr indent="0" marL="0">
              <a:lnSpc>
                <a:spcPct val="115000"/>
              </a:lnSpc>
              <a:buNone/>
            </a:pPr>
            <a:r>
              <a:rPr lang="en-US" sz="1080" dirty="0">
                <a:solidFill>
                  <a:srgbClr val="6C7599"/>
                </a:solidFill>
                <a:latin typeface="Calibri" pitchFamily="34" charset="0"/>
                <a:ea typeface="Calibri" pitchFamily="34" charset="-122"/>
                <a:cs typeface="Calibri" pitchFamily="34" charset="-120"/>
              </a:rPr>
              <a:t>Higher per-call cost; slightly higher latency under load</a:t>
            </a:r>
            <a:endParaRPr lang="en-US" sz="1080" dirty="0"/>
          </a:p>
        </p:txBody>
      </p:sp>
      <p:sp>
        <p:nvSpPr>
          <p:cNvPr id="18" name="Text 15"/>
          <p:cNvSpPr/>
          <p:nvPr/>
        </p:nvSpPr>
        <p:spPr>
          <a:xfrm>
            <a:off x="822960" y="5486400"/>
            <a:ext cx="470916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Data control</a:t>
            </a:r>
            <a:endParaRPr lang="en-US" sz="1200" dirty="0"/>
          </a:p>
        </p:txBody>
      </p:sp>
      <p:sp>
        <p:nvSpPr>
          <p:cNvPr id="19" name="Text 16"/>
          <p:cNvSpPr/>
          <p:nvPr/>
        </p:nvSpPr>
        <p:spPr>
          <a:xfrm>
            <a:off x="822960" y="5733288"/>
            <a:ext cx="4709160" cy="457200"/>
          </a:xfrm>
          <a:prstGeom prst="rect">
            <a:avLst/>
          </a:prstGeom>
          <a:noFill/>
          <a:ln/>
        </p:spPr>
        <p:txBody>
          <a:bodyPr wrap="square" lIns="0" tIns="0" rIns="0" bIns="0" rtlCol="0" anchor="ctr"/>
          <a:lstStyle/>
          <a:p>
            <a:pPr indent="0" marL="0">
              <a:lnSpc>
                <a:spcPct val="115000"/>
              </a:lnSpc>
              <a:buNone/>
            </a:pPr>
            <a:r>
              <a:rPr lang="en-US" sz="1080" dirty="0">
                <a:solidFill>
                  <a:srgbClr val="6C7599"/>
                </a:solidFill>
                <a:latin typeface="Calibri" pitchFamily="34" charset="0"/>
                <a:ea typeface="Calibri" pitchFamily="34" charset="-122"/>
                <a:cs typeface="Calibri" pitchFamily="34" charset="-120"/>
              </a:rPr>
              <a:t>Requests leave your infrastructure via hosted API</a:t>
            </a:r>
            <a:endParaRPr lang="en-US" sz="1080" dirty="0"/>
          </a:p>
        </p:txBody>
      </p:sp>
      <p:sp>
        <p:nvSpPr>
          <p:cNvPr id="20" name="Shape 17"/>
          <p:cNvSpPr/>
          <p:nvPr/>
        </p:nvSpPr>
        <p:spPr>
          <a:xfrm>
            <a:off x="6126480" y="1554480"/>
            <a:ext cx="5257800" cy="4572000"/>
          </a:xfrm>
          <a:prstGeom prst="roundRect">
            <a:avLst>
              <a:gd name="adj" fmla="val 2000"/>
            </a:avLst>
          </a:prstGeom>
          <a:solidFill>
            <a:srgbClr val="FFFFFF"/>
          </a:solidFill>
          <a:ln w="15875">
            <a:solidFill>
              <a:srgbClr val="CADCFC"/>
            </a:solidFill>
            <a:prstDash val="solid"/>
          </a:ln>
          <a:effectLst>
            <a:outerShdw sx="100000" sy="100000" kx="0" ky="0" algn="bl" rotWithShape="0" blurRad="76200" dist="25400" dir="5400000">
              <a:srgbClr val="1B2340">
                <a:alpha val="15000"/>
              </a:srgbClr>
            </a:outerShdw>
          </a:effectLst>
        </p:spPr>
      </p:sp>
      <p:sp>
        <p:nvSpPr>
          <p:cNvPr id="21" name="Shape 18"/>
          <p:cNvSpPr/>
          <p:nvPr/>
        </p:nvSpPr>
        <p:spPr>
          <a:xfrm>
            <a:off x="6126480" y="1554480"/>
            <a:ext cx="5257800" cy="868680"/>
          </a:xfrm>
          <a:prstGeom prst="roundRect">
            <a:avLst>
              <a:gd name="adj" fmla="val 10526"/>
            </a:avLst>
          </a:prstGeom>
          <a:solidFill>
            <a:srgbClr val="2F386E"/>
          </a:solidFill>
          <a:ln/>
        </p:spPr>
      </p:sp>
      <p:sp>
        <p:nvSpPr>
          <p:cNvPr id="22" name="Shape 19"/>
          <p:cNvSpPr/>
          <p:nvPr/>
        </p:nvSpPr>
        <p:spPr>
          <a:xfrm>
            <a:off x="6126480" y="2011680"/>
            <a:ext cx="5257800" cy="411480"/>
          </a:xfrm>
          <a:prstGeom prst="rect">
            <a:avLst/>
          </a:prstGeom>
          <a:solidFill>
            <a:srgbClr val="2F386E"/>
          </a:solidFill>
          <a:ln/>
        </p:spPr>
      </p:sp>
      <p:pic>
        <p:nvPicPr>
          <p:cNvPr id="23" name="Image 1" descr="/home/claude/deck/assets/icons/llama.png">    </p:cNvPr>
          <p:cNvPicPr>
            <a:picLocks noChangeAspect="1"/>
          </p:cNvPicPr>
          <p:nvPr/>
        </p:nvPicPr>
        <p:blipFill>
          <a:blip r:embed="rId2"/>
          <a:stretch>
            <a:fillRect/>
          </a:stretch>
        </p:blipFill>
        <p:spPr>
          <a:xfrm>
            <a:off x="6400800" y="1755648"/>
            <a:ext cx="457200" cy="457200"/>
          </a:xfrm>
          <a:prstGeom prst="rect">
            <a:avLst/>
          </a:prstGeom>
        </p:spPr>
      </p:pic>
      <p:sp>
        <p:nvSpPr>
          <p:cNvPr id="24" name="Text 20"/>
          <p:cNvSpPr/>
          <p:nvPr/>
        </p:nvSpPr>
        <p:spPr>
          <a:xfrm>
            <a:off x="6995160" y="1682496"/>
            <a:ext cx="41605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Llama 3.3 70B</a:t>
            </a:r>
            <a:endParaRPr lang="en-US" sz="1900" dirty="0"/>
          </a:p>
        </p:txBody>
      </p:sp>
      <p:sp>
        <p:nvSpPr>
          <p:cNvPr id="25" name="Text 21"/>
          <p:cNvSpPr/>
          <p:nvPr/>
        </p:nvSpPr>
        <p:spPr>
          <a:xfrm>
            <a:off x="6995160" y="2039112"/>
            <a:ext cx="4160520" cy="274320"/>
          </a:xfrm>
          <a:prstGeom prst="rect">
            <a:avLst/>
          </a:prstGeom>
          <a:noFill/>
          <a:ln/>
        </p:spPr>
        <p:txBody>
          <a:bodyPr wrap="square" lIns="0" tIns="0" rIns="0" bIns="0" rtlCol="0" anchor="ctr"/>
          <a:lstStyle/>
          <a:p>
            <a:pPr indent="0" marL="0">
              <a:buNone/>
            </a:pPr>
            <a:r>
              <a:rPr lang="en-US" sz="950" spc="100" kern="0" dirty="0">
                <a:solidFill>
                  <a:srgbClr val="CADCFC"/>
                </a:solidFill>
                <a:latin typeface="Calibri" pitchFamily="34" charset="0"/>
                <a:ea typeface="Calibri" pitchFamily="34" charset="-122"/>
                <a:cs typeface="Calibri" pitchFamily="34" charset="-120"/>
              </a:rPr>
              <a:t>OPEN-SOURCE • SELF-HOSTED</a:t>
            </a:r>
            <a:endParaRPr lang="en-US" sz="950" dirty="0"/>
          </a:p>
        </p:txBody>
      </p:sp>
      <p:sp>
        <p:nvSpPr>
          <p:cNvPr id="26" name="Text 22"/>
          <p:cNvSpPr/>
          <p:nvPr/>
        </p:nvSpPr>
        <p:spPr>
          <a:xfrm>
            <a:off x="6400800" y="2633472"/>
            <a:ext cx="470916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Reasoning depth</a:t>
            </a:r>
            <a:endParaRPr lang="en-US" sz="1200" dirty="0"/>
          </a:p>
        </p:txBody>
      </p:sp>
      <p:sp>
        <p:nvSpPr>
          <p:cNvPr id="27" name="Text 23"/>
          <p:cNvSpPr/>
          <p:nvPr/>
        </p:nvSpPr>
        <p:spPr>
          <a:xfrm>
            <a:off x="6400800" y="2880360"/>
            <a:ext cx="4709160" cy="457200"/>
          </a:xfrm>
          <a:prstGeom prst="rect">
            <a:avLst/>
          </a:prstGeom>
          <a:noFill/>
          <a:ln/>
        </p:spPr>
        <p:txBody>
          <a:bodyPr wrap="square" lIns="0" tIns="0" rIns="0" bIns="0" rtlCol="0" anchor="ctr"/>
          <a:lstStyle/>
          <a:p>
            <a:pPr indent="0" marL="0">
              <a:lnSpc>
                <a:spcPct val="115000"/>
              </a:lnSpc>
              <a:buNone/>
            </a:pPr>
            <a:r>
              <a:rPr lang="en-US" sz="1080" dirty="0">
                <a:solidFill>
                  <a:srgbClr val="6C7599"/>
                </a:solidFill>
                <a:latin typeface="Calibri" pitchFamily="34" charset="0"/>
                <a:ea typeface="Calibri" pitchFamily="34" charset="-122"/>
                <a:cs typeface="Calibri" pitchFamily="34" charset="-120"/>
              </a:rPr>
              <a:t>Strong on well-scoped tasks; less consistent on long chains</a:t>
            </a:r>
            <a:endParaRPr lang="en-US" sz="1080" dirty="0"/>
          </a:p>
        </p:txBody>
      </p:sp>
      <p:sp>
        <p:nvSpPr>
          <p:cNvPr id="28" name="Text 24"/>
          <p:cNvSpPr/>
          <p:nvPr/>
        </p:nvSpPr>
        <p:spPr>
          <a:xfrm>
            <a:off x="6400800" y="3346704"/>
            <a:ext cx="470916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Tool orchestration</a:t>
            </a:r>
            <a:endParaRPr lang="en-US" sz="1200" dirty="0"/>
          </a:p>
        </p:txBody>
      </p:sp>
      <p:sp>
        <p:nvSpPr>
          <p:cNvPr id="29" name="Text 25"/>
          <p:cNvSpPr/>
          <p:nvPr/>
        </p:nvSpPr>
        <p:spPr>
          <a:xfrm>
            <a:off x="6400800" y="3593592"/>
            <a:ext cx="4709160" cy="457200"/>
          </a:xfrm>
          <a:prstGeom prst="rect">
            <a:avLst/>
          </a:prstGeom>
          <a:noFill/>
          <a:ln/>
        </p:spPr>
        <p:txBody>
          <a:bodyPr wrap="square" lIns="0" tIns="0" rIns="0" bIns="0" rtlCol="0" anchor="ctr"/>
          <a:lstStyle/>
          <a:p>
            <a:pPr indent="0" marL="0">
              <a:lnSpc>
                <a:spcPct val="115000"/>
              </a:lnSpc>
              <a:buNone/>
            </a:pPr>
            <a:r>
              <a:rPr lang="en-US" sz="1080" dirty="0">
                <a:solidFill>
                  <a:srgbClr val="6C7599"/>
                </a:solidFill>
                <a:latin typeface="Calibri" pitchFamily="34" charset="0"/>
                <a:ea typeface="Calibri" pitchFamily="34" charset="-122"/>
                <a:cs typeface="Calibri" pitchFamily="34" charset="-120"/>
              </a:rPr>
              <a:t>Handles standard calls well; more prompting needed for edge cases</a:t>
            </a:r>
            <a:endParaRPr lang="en-US" sz="1080" dirty="0"/>
          </a:p>
        </p:txBody>
      </p:sp>
      <p:sp>
        <p:nvSpPr>
          <p:cNvPr id="30" name="Text 26"/>
          <p:cNvSpPr/>
          <p:nvPr/>
        </p:nvSpPr>
        <p:spPr>
          <a:xfrm>
            <a:off x="6400800" y="4059936"/>
            <a:ext cx="470916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Error handling</a:t>
            </a:r>
            <a:endParaRPr lang="en-US" sz="1200" dirty="0"/>
          </a:p>
        </p:txBody>
      </p:sp>
      <p:sp>
        <p:nvSpPr>
          <p:cNvPr id="31" name="Text 27"/>
          <p:cNvSpPr/>
          <p:nvPr/>
        </p:nvSpPr>
        <p:spPr>
          <a:xfrm>
            <a:off x="6400800" y="4306824"/>
            <a:ext cx="4709160" cy="457200"/>
          </a:xfrm>
          <a:prstGeom prst="rect">
            <a:avLst/>
          </a:prstGeom>
          <a:noFill/>
          <a:ln/>
        </p:spPr>
        <p:txBody>
          <a:bodyPr wrap="square" lIns="0" tIns="0" rIns="0" bIns="0" rtlCol="0" anchor="ctr"/>
          <a:lstStyle/>
          <a:p>
            <a:pPr indent="0" marL="0">
              <a:lnSpc>
                <a:spcPct val="115000"/>
              </a:lnSpc>
              <a:buNone/>
            </a:pPr>
            <a:r>
              <a:rPr lang="en-US" sz="1080" dirty="0">
                <a:solidFill>
                  <a:srgbClr val="6C7599"/>
                </a:solidFill>
                <a:latin typeface="Calibri" pitchFamily="34" charset="0"/>
                <a:ea typeface="Calibri" pitchFamily="34" charset="-122"/>
                <a:cs typeface="Calibri" pitchFamily="34" charset="-120"/>
              </a:rPr>
              <a:t>Improving, but recovers from failures less reliably today</a:t>
            </a:r>
            <a:endParaRPr lang="en-US" sz="1080" dirty="0"/>
          </a:p>
        </p:txBody>
      </p:sp>
      <p:sp>
        <p:nvSpPr>
          <p:cNvPr id="32" name="Text 28"/>
          <p:cNvSpPr/>
          <p:nvPr/>
        </p:nvSpPr>
        <p:spPr>
          <a:xfrm>
            <a:off x="6400800" y="4773168"/>
            <a:ext cx="470916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Cost &amp; latency</a:t>
            </a:r>
            <a:endParaRPr lang="en-US" sz="1200" dirty="0"/>
          </a:p>
        </p:txBody>
      </p:sp>
      <p:sp>
        <p:nvSpPr>
          <p:cNvPr id="33" name="Text 29"/>
          <p:cNvSpPr/>
          <p:nvPr/>
        </p:nvSpPr>
        <p:spPr>
          <a:xfrm>
            <a:off x="6400800" y="5020056"/>
            <a:ext cx="4709160" cy="457200"/>
          </a:xfrm>
          <a:prstGeom prst="rect">
            <a:avLst/>
          </a:prstGeom>
          <a:noFill/>
          <a:ln/>
        </p:spPr>
        <p:txBody>
          <a:bodyPr wrap="square" lIns="0" tIns="0" rIns="0" bIns="0" rtlCol="0" anchor="ctr"/>
          <a:lstStyle/>
          <a:p>
            <a:pPr indent="0" marL="0">
              <a:lnSpc>
                <a:spcPct val="115000"/>
              </a:lnSpc>
              <a:buNone/>
            </a:pPr>
            <a:r>
              <a:rPr lang="en-US" sz="1080" dirty="0">
                <a:solidFill>
                  <a:srgbClr val="6C7599"/>
                </a:solidFill>
                <a:latin typeface="Calibri" pitchFamily="34" charset="0"/>
                <a:ea typeface="Calibri" pitchFamily="34" charset="-122"/>
                <a:cs typeface="Calibri" pitchFamily="34" charset="-120"/>
              </a:rPr>
              <a:t>Fraction of the cost; fastest inference of the two on-prem</a:t>
            </a:r>
            <a:endParaRPr lang="en-US" sz="1080" dirty="0"/>
          </a:p>
        </p:txBody>
      </p:sp>
      <p:sp>
        <p:nvSpPr>
          <p:cNvPr id="34" name="Text 30"/>
          <p:cNvSpPr/>
          <p:nvPr/>
        </p:nvSpPr>
        <p:spPr>
          <a:xfrm>
            <a:off x="6400800" y="5486400"/>
            <a:ext cx="470916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Data control</a:t>
            </a:r>
            <a:endParaRPr lang="en-US" sz="1200" dirty="0"/>
          </a:p>
        </p:txBody>
      </p:sp>
      <p:sp>
        <p:nvSpPr>
          <p:cNvPr id="35" name="Text 31"/>
          <p:cNvSpPr/>
          <p:nvPr/>
        </p:nvSpPr>
        <p:spPr>
          <a:xfrm>
            <a:off x="6400800" y="5733288"/>
            <a:ext cx="4709160" cy="457200"/>
          </a:xfrm>
          <a:prstGeom prst="rect">
            <a:avLst/>
          </a:prstGeom>
          <a:noFill/>
          <a:ln/>
        </p:spPr>
        <p:txBody>
          <a:bodyPr wrap="square" lIns="0" tIns="0" rIns="0" bIns="0" rtlCol="0" anchor="ctr"/>
          <a:lstStyle/>
          <a:p>
            <a:pPr indent="0" marL="0">
              <a:lnSpc>
                <a:spcPct val="115000"/>
              </a:lnSpc>
              <a:buNone/>
            </a:pPr>
            <a:r>
              <a:rPr lang="en-US" sz="1080" dirty="0">
                <a:solidFill>
                  <a:srgbClr val="6C7599"/>
                </a:solidFill>
                <a:latin typeface="Calibri" pitchFamily="34" charset="0"/>
                <a:ea typeface="Calibri" pitchFamily="34" charset="-122"/>
                <a:cs typeface="Calibri" pitchFamily="34" charset="-120"/>
              </a:rPr>
              <a:t>Fully self-hosted — shipment and carrier data never leaves your VPC</a:t>
            </a:r>
            <a:endParaRPr lang="en-US" sz="1080" dirty="0"/>
          </a:p>
        </p:txBody>
      </p:sp>
      <p:sp>
        <p:nvSpPr>
          <p:cNvPr id="36" name="Text 32"/>
          <p:cNvSpPr/>
          <p:nvPr/>
        </p:nvSpPr>
        <p:spPr>
          <a:xfrm>
            <a:off x="457200" y="6547104"/>
            <a:ext cx="8229600" cy="256032"/>
          </a:xfrm>
          <a:prstGeom prst="rect">
            <a:avLst/>
          </a:prstGeom>
          <a:noFill/>
          <a:ln/>
        </p:spPr>
        <p:txBody>
          <a:bodyPr wrap="square" lIns="0" tIns="0" rIns="0" bIns="0" rtlCol="0" anchor="ctr"/>
          <a:lstStyle/>
          <a:p>
            <a:pPr indent="0" marL="0">
              <a:buNone/>
            </a:pPr>
            <a:r>
              <a:rPr lang="en-US" sz="850" spc="100" kern="0" dirty="0">
                <a:solidFill>
                  <a:srgbClr val="6C7599"/>
                </a:solidFill>
                <a:latin typeface="Calibri" pitchFamily="34" charset="0"/>
                <a:ea typeface="Calibri" pitchFamily="34" charset="-122"/>
                <a:cs typeface="Calibri" pitchFamily="34" charset="-120"/>
              </a:rPr>
              <a:t>AUTONOMOUS LOGISTICS REROUTING  |  AI RESEARCHER ASSESSMENT</a:t>
            </a:r>
            <a:endParaRPr lang="en-US" sz="850" dirty="0"/>
          </a:p>
        </p:txBody>
      </p:sp>
      <p:sp>
        <p:nvSpPr>
          <p:cNvPr id="37" name="Text 33"/>
          <p:cNvSpPr/>
          <p:nvPr/>
        </p:nvSpPr>
        <p:spPr>
          <a:xfrm>
            <a:off x="11430000" y="6547104"/>
            <a:ext cx="365760" cy="256032"/>
          </a:xfrm>
          <a:prstGeom prst="rect">
            <a:avLst/>
          </a:prstGeom>
          <a:noFill/>
          <a:ln/>
        </p:spPr>
        <p:txBody>
          <a:bodyPr wrap="square" lIns="0" tIns="0" rIns="0" bIns="0" rtlCol="0" anchor="ctr"/>
          <a:lstStyle/>
          <a:p>
            <a:pPr algn="r" indent="0" marL="0">
              <a:buNone/>
            </a:pPr>
            <a:r>
              <a:rPr lang="en-US" sz="850" dirty="0">
                <a:solidFill>
                  <a:srgbClr val="6C7599"/>
                </a:solidFill>
                <a:latin typeface="Calibri" pitchFamily="34" charset="0"/>
                <a:ea typeface="Calibri" pitchFamily="34" charset="-122"/>
                <a:cs typeface="Calibri"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F2A93B"/>
                </a:solidFill>
                <a:latin typeface="Calibri" pitchFamily="34" charset="0"/>
                <a:ea typeface="Calibri" pitchFamily="34" charset="-122"/>
                <a:cs typeface="Calibri" pitchFamily="34" charset="-120"/>
              </a:rPr>
              <a:t>PART 1 — RESEARCH</a:t>
            </a:r>
            <a:endParaRPr lang="en-US" sz="125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Benchmark results across the six trajectory dimensions</a:t>
            </a:r>
            <a:endParaRPr lang="en-US" sz="3000" dirty="0"/>
          </a:p>
        </p:txBody>
      </p:sp>
      <p:sp>
        <p:nvSpPr>
          <p:cNvPr id="4" name="Text 2"/>
          <p:cNvSpPr/>
          <p:nvPr/>
        </p:nvSpPr>
        <p:spPr>
          <a:xfrm>
            <a:off x="548640" y="1298448"/>
            <a:ext cx="10515600" cy="365760"/>
          </a:xfrm>
          <a:prstGeom prst="rect">
            <a:avLst/>
          </a:prstGeom>
          <a:noFill/>
          <a:ln/>
        </p:spPr>
        <p:txBody>
          <a:bodyPr wrap="square" lIns="0" tIns="0" rIns="0" bIns="0" rtlCol="0" anchor="ctr"/>
          <a:lstStyle/>
          <a:p>
            <a:pPr indent="0" marL="0">
              <a:buNone/>
            </a:pPr>
            <a:r>
              <a:rPr lang="en-US" sz="1150" i="1" dirty="0">
                <a:solidFill>
                  <a:srgbClr val="6C7599"/>
                </a:solidFill>
                <a:latin typeface="Calibri" pitchFamily="34" charset="0"/>
                <a:ea typeface="Calibri" pitchFamily="34" charset="-122"/>
                <a:cs typeface="Calibri" pitchFamily="34" charset="-120"/>
              </a:rPr>
              <a:t>Illustrative demonstration benchmarks (1–5 scale), run against the rerouting-agent evaluation suite — not vendor-published figures.</a:t>
            </a:r>
            <a:endParaRPr lang="en-US" sz="1150" dirty="0"/>
          </a:p>
        </p:txBody>
      </p:sp>
      <p:graphicFrame>
        <p:nvGraphicFramePr>
          <p:cNvPr id="5" name="Chart 0" descr=""/>
          <p:cNvGraphicFramePr/>
          <p:nvPr/>
        </p:nvGraphicFramePr>
        <p:xfrm>
          <a:off x="457200" y="1783080"/>
          <a:ext cx="6675120" cy="42976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06640" y="1783080"/>
            <a:ext cx="4251960" cy="1965960"/>
          </a:xfrm>
          <a:prstGeom prst="roundRect">
            <a:avLst>
              <a:gd name="adj" fmla="val 4651"/>
            </a:avLst>
          </a:prstGeom>
          <a:solidFill>
            <a:srgbClr val="1E2761"/>
          </a:solidFill>
          <a:ln/>
        </p:spPr>
      </p:sp>
      <p:sp>
        <p:nvSpPr>
          <p:cNvPr id="7" name="Text 4"/>
          <p:cNvSpPr/>
          <p:nvPr/>
        </p:nvSpPr>
        <p:spPr>
          <a:xfrm>
            <a:off x="7680960" y="1938528"/>
            <a:ext cx="2743200" cy="320040"/>
          </a:xfrm>
          <a:prstGeom prst="rect">
            <a:avLst/>
          </a:prstGeom>
          <a:noFill/>
          <a:ln/>
        </p:spPr>
        <p:txBody>
          <a:bodyPr wrap="square" lIns="0" tIns="0" rIns="0" bIns="0" rtlCol="0" anchor="ctr"/>
          <a:lstStyle/>
          <a:p>
            <a:pPr indent="0" marL="0">
              <a:buNone/>
            </a:pPr>
            <a:r>
              <a:rPr lang="en-US" sz="1400" b="1" dirty="0">
                <a:solidFill>
                  <a:srgbClr val="F2A93B"/>
                </a:solidFill>
                <a:latin typeface="Cambria" pitchFamily="34" charset="0"/>
                <a:ea typeface="Cambria" pitchFamily="34" charset="-122"/>
                <a:cs typeface="Cambria" pitchFamily="34" charset="-120"/>
              </a:rPr>
              <a:t>GPT-5</a:t>
            </a:r>
            <a:endParaRPr lang="en-US" sz="1400" dirty="0"/>
          </a:p>
        </p:txBody>
      </p:sp>
      <p:sp>
        <p:nvSpPr>
          <p:cNvPr id="8" name="Text 5"/>
          <p:cNvSpPr/>
          <p:nvPr/>
        </p:nvSpPr>
        <p:spPr>
          <a:xfrm>
            <a:off x="7680960" y="2286000"/>
            <a:ext cx="3657600" cy="1371600"/>
          </a:xfrm>
          <a:prstGeom prst="rect">
            <a:avLst/>
          </a:prstGeom>
          <a:noFill/>
          <a:ln/>
        </p:spPr>
        <p:txBody>
          <a:bodyPr wrap="square" lIns="0" tIns="0" rIns="0" bIns="0" rtlCol="0" anchor="ctr"/>
          <a:lstStyle/>
          <a:p>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Consistently strong across every dimension — particularly error recovery, where autonomous agents most often fail silently.</a:t>
            </a:r>
            <a:endParaRPr lang="en-US" sz="1150" dirty="0"/>
          </a:p>
        </p:txBody>
      </p:sp>
      <p:sp>
        <p:nvSpPr>
          <p:cNvPr id="9" name="Shape 6"/>
          <p:cNvSpPr/>
          <p:nvPr/>
        </p:nvSpPr>
        <p:spPr>
          <a:xfrm>
            <a:off x="7406640" y="3931920"/>
            <a:ext cx="4251960" cy="1965960"/>
          </a:xfrm>
          <a:prstGeom prst="roundRect">
            <a:avLst>
              <a:gd name="adj" fmla="val 4651"/>
            </a:avLst>
          </a:prstGeom>
          <a:solidFill>
            <a:srgbClr val="EEF3FE"/>
          </a:solidFill>
          <a:ln w="12700">
            <a:solidFill>
              <a:srgbClr val="CADCFC"/>
            </a:solidFill>
            <a:prstDash val="solid"/>
          </a:ln>
        </p:spPr>
      </p:sp>
      <p:sp>
        <p:nvSpPr>
          <p:cNvPr id="10" name="Text 7"/>
          <p:cNvSpPr/>
          <p:nvPr/>
        </p:nvSpPr>
        <p:spPr>
          <a:xfrm>
            <a:off x="7680960" y="4087368"/>
            <a:ext cx="329184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Llama 3.3 70B</a:t>
            </a:r>
            <a:endParaRPr lang="en-US" sz="1400" dirty="0"/>
          </a:p>
        </p:txBody>
      </p:sp>
      <p:sp>
        <p:nvSpPr>
          <p:cNvPr id="11" name="Text 8"/>
          <p:cNvSpPr/>
          <p:nvPr/>
        </p:nvSpPr>
        <p:spPr>
          <a:xfrm>
            <a:off x="7680960" y="4434840"/>
            <a:ext cx="3657600" cy="1371600"/>
          </a:xfrm>
          <a:prstGeom prst="rect">
            <a:avLst/>
          </a:prstGeom>
          <a:noFill/>
          <a:ln/>
        </p:spPr>
        <p:txBody>
          <a:bodyPr wrap="square" lIns="0" tIns="0" rIns="0" bIns="0" rtlCol="0" anchor="ctr"/>
          <a:lstStyle/>
          <a:p>
            <a:pPr indent="0" marL="0">
              <a:lnSpc>
                <a:spcPct val="125000"/>
              </a:lnSpc>
              <a:buNone/>
            </a:pPr>
            <a:r>
              <a:rPr lang="en-US" sz="1150" dirty="0">
                <a:solidFill>
                  <a:srgbClr val="6C7599"/>
                </a:solidFill>
                <a:latin typeface="Calibri" pitchFamily="34" charset="0"/>
                <a:ea typeface="Calibri" pitchFamily="34" charset="-122"/>
                <a:cs typeface="Calibri" pitchFamily="34" charset="-120"/>
              </a:rPr>
              <a:t>Competitive on reasoning and tool calling; the gap widens most on error recovery — the dimension most tied to safe autonomy.</a:t>
            </a:r>
            <a:endParaRPr lang="en-US" sz="1150" dirty="0"/>
          </a:p>
        </p:txBody>
      </p:sp>
      <p:sp>
        <p:nvSpPr>
          <p:cNvPr id="12" name="Text 9"/>
          <p:cNvSpPr/>
          <p:nvPr/>
        </p:nvSpPr>
        <p:spPr>
          <a:xfrm>
            <a:off x="457200" y="6547104"/>
            <a:ext cx="8229600" cy="256032"/>
          </a:xfrm>
          <a:prstGeom prst="rect">
            <a:avLst/>
          </a:prstGeom>
          <a:noFill/>
          <a:ln/>
        </p:spPr>
        <p:txBody>
          <a:bodyPr wrap="square" lIns="0" tIns="0" rIns="0" bIns="0" rtlCol="0" anchor="ctr"/>
          <a:lstStyle/>
          <a:p>
            <a:pPr indent="0" marL="0">
              <a:buNone/>
            </a:pPr>
            <a:r>
              <a:rPr lang="en-US" sz="850" spc="100" kern="0" dirty="0">
                <a:solidFill>
                  <a:srgbClr val="6C7599"/>
                </a:solidFill>
                <a:latin typeface="Calibri" pitchFamily="34" charset="0"/>
                <a:ea typeface="Calibri" pitchFamily="34" charset="-122"/>
                <a:cs typeface="Calibri" pitchFamily="34" charset="-120"/>
              </a:rPr>
              <a:t>AUTONOMOUS LOGISTICS REROUTING  |  AI RESEARCHER ASSESSMENT</a:t>
            </a:r>
            <a:endParaRPr lang="en-US" sz="850" dirty="0"/>
          </a:p>
        </p:txBody>
      </p:sp>
      <p:sp>
        <p:nvSpPr>
          <p:cNvPr id="13" name="Text 10"/>
          <p:cNvSpPr/>
          <p:nvPr/>
        </p:nvSpPr>
        <p:spPr>
          <a:xfrm>
            <a:off x="11430000" y="6547104"/>
            <a:ext cx="365760" cy="256032"/>
          </a:xfrm>
          <a:prstGeom prst="rect">
            <a:avLst/>
          </a:prstGeom>
          <a:noFill/>
          <a:ln/>
        </p:spPr>
        <p:txBody>
          <a:bodyPr wrap="square" lIns="0" tIns="0" rIns="0" bIns="0" rtlCol="0" anchor="ctr"/>
          <a:lstStyle/>
          <a:p>
            <a:pPr algn="r" indent="0" marL="0">
              <a:buNone/>
            </a:pPr>
            <a:r>
              <a:rPr lang="en-US" sz="850" dirty="0">
                <a:solidFill>
                  <a:srgbClr val="6C7599"/>
                </a:solidFill>
                <a:latin typeface="Calibri" pitchFamily="34" charset="0"/>
                <a:ea typeface="Calibri" pitchFamily="34" charset="-122"/>
                <a:cs typeface="Calibri"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F2A93B"/>
                </a:solidFill>
                <a:latin typeface="Calibri" pitchFamily="34" charset="0"/>
                <a:ea typeface="Calibri" pitchFamily="34" charset="-122"/>
                <a:cs typeface="Calibri" pitchFamily="34" charset="-120"/>
              </a:rPr>
              <a:t>PART 1 — RESEARCH</a:t>
            </a:r>
            <a:endParaRPr lang="en-US" sz="125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Technical trade-offs: what you gain, what you give up</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657600"/>
        </p:xfrm>
        <a:graphic>
          <a:graphicData uri="http://schemas.openxmlformats.org/drawingml/2006/table">
            <a:tbl>
              <a:tblPr/>
              <a:tblGrid>
                <a:gridCol w="3931920"/>
                <a:gridCol w="3566160"/>
                <a:gridCol w="3566160"/>
              </a:tblGrid>
              <a:tr h="54864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Dimension</a:t>
                      </a:r>
                      <a:endParaRPr lang="en-US" sz="12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GPT-5</a:t>
                      </a:r>
                      <a:endParaRPr lang="en-US" sz="12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Llama 3.3 70B</a:t>
                      </a:r>
                      <a:endParaRPr lang="en-US" sz="12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1E2761"/>
                    </a:solidFill>
                  </a:tcPr>
                </a:tc>
              </a:tr>
              <a:tr h="54864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Reasoning ceiling</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340"/>
                          </a:solidFill>
                          <a:latin typeface="Calibri" pitchFamily="34" charset="0"/>
                          <a:ea typeface="Calibri" pitchFamily="34" charset="-122"/>
                          <a:cs typeface="Calibri" pitchFamily="34" charset="-120"/>
                        </a:rPr>
                        <a:t>Highest observed</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340"/>
                          </a:solidFill>
                          <a:latin typeface="Calibri" pitchFamily="34" charset="0"/>
                          <a:ea typeface="Calibri" pitchFamily="34" charset="-122"/>
                          <a:cs typeface="Calibri" pitchFamily="34" charset="-120"/>
                        </a:rPr>
                        <a:t>Strong, lower ceiling</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Inference latency</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EEF3FE"/>
                    </a:solidFill>
                  </a:tcPr>
                </a:tc>
                <a:tc>
                  <a:txBody>
                    <a:bodyPr/>
                    <a:lstStyle/>
                    <a:p>
                      <a:pPr algn="ctr" indent="0" marL="0">
                        <a:buNone/>
                      </a:pPr>
                      <a:r>
                        <a:rPr lang="en-US" sz="1150" dirty="0">
                          <a:solidFill>
                            <a:srgbClr val="1B2340"/>
                          </a:solidFill>
                          <a:latin typeface="Calibri" pitchFamily="34" charset="0"/>
                          <a:ea typeface="Calibri" pitchFamily="34" charset="-122"/>
                          <a:cs typeface="Calibri" pitchFamily="34" charset="-120"/>
                        </a:rPr>
                        <a:t>Moderate (API round-trip)</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EEF3FE"/>
                    </a:solidFill>
                  </a:tcPr>
                </a:tc>
                <a:tc>
                  <a:txBody>
                    <a:bodyPr/>
                    <a:lstStyle/>
                    <a:p>
                      <a:pPr algn="ctr" indent="0" marL="0">
                        <a:buNone/>
                      </a:pPr>
                      <a:r>
                        <a:rPr lang="en-US" sz="1150" dirty="0">
                          <a:solidFill>
                            <a:srgbClr val="1B2340"/>
                          </a:solidFill>
                          <a:latin typeface="Calibri" pitchFamily="34" charset="0"/>
                          <a:ea typeface="Calibri" pitchFamily="34" charset="-122"/>
                          <a:cs typeface="Calibri" pitchFamily="34" charset="-120"/>
                        </a:rPr>
                        <a:t>Fastest (on-prem)</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EEF3FE"/>
                    </a:solidFill>
                  </a:tcPr>
                </a:tc>
              </a:tr>
              <a:tr h="54864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Cost per 1M tokens</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340"/>
                          </a:solidFill>
                          <a:latin typeface="Calibri" pitchFamily="34" charset="0"/>
                          <a:ea typeface="Calibri" pitchFamily="34" charset="-122"/>
                          <a:cs typeface="Calibri" pitchFamily="34" charset="-120"/>
                        </a:rPr>
                        <a:t>Highest</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340"/>
                          </a:solidFill>
                          <a:latin typeface="Calibri" pitchFamily="34" charset="0"/>
                          <a:ea typeface="Calibri" pitchFamily="34" charset="-122"/>
                          <a:cs typeface="Calibri" pitchFamily="34" charset="-120"/>
                        </a:rPr>
                        <a:t>Lowest (compute only)</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Customization</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EEF3FE"/>
                    </a:solidFill>
                  </a:tcPr>
                </a:tc>
                <a:tc>
                  <a:txBody>
                    <a:bodyPr/>
                    <a:lstStyle/>
                    <a:p>
                      <a:pPr algn="ctr" indent="0" marL="0">
                        <a:buNone/>
                      </a:pPr>
                      <a:r>
                        <a:rPr lang="en-US" sz="1150" dirty="0">
                          <a:solidFill>
                            <a:srgbClr val="1B2340"/>
                          </a:solidFill>
                          <a:latin typeface="Calibri" pitchFamily="34" charset="0"/>
                          <a:ea typeface="Calibri" pitchFamily="34" charset="-122"/>
                          <a:cs typeface="Calibri" pitchFamily="34" charset="-120"/>
                        </a:rPr>
                        <a:t>Prompt-level only</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EEF3FE"/>
                    </a:solidFill>
                  </a:tcPr>
                </a:tc>
                <a:tc>
                  <a:txBody>
                    <a:bodyPr/>
                    <a:lstStyle/>
                    <a:p>
                      <a:pPr algn="ctr" indent="0" marL="0">
                        <a:buNone/>
                      </a:pPr>
                      <a:r>
                        <a:rPr lang="en-US" sz="1150" dirty="0">
                          <a:solidFill>
                            <a:srgbClr val="1B2340"/>
                          </a:solidFill>
                          <a:latin typeface="Calibri" pitchFamily="34" charset="0"/>
                          <a:ea typeface="Calibri" pitchFamily="34" charset="-122"/>
                          <a:cs typeface="Calibri" pitchFamily="34" charset="-120"/>
                        </a:rPr>
                        <a:t>Fine-tunable end-to-end</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EEF3FE"/>
                    </a:solidFill>
                  </a:tcPr>
                </a:tc>
              </a:tr>
              <a:tr h="54864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Data residency</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340"/>
                          </a:solidFill>
                          <a:latin typeface="Calibri" pitchFamily="34" charset="0"/>
                          <a:ea typeface="Calibri" pitchFamily="34" charset="-122"/>
                          <a:cs typeface="Calibri" pitchFamily="34" charset="-120"/>
                        </a:rPr>
                        <a:t>Leaves your VPC</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340"/>
                          </a:solidFill>
                          <a:latin typeface="Calibri" pitchFamily="34" charset="0"/>
                          <a:ea typeface="Calibri" pitchFamily="34" charset="-122"/>
                          <a:cs typeface="Calibri" pitchFamily="34" charset="-120"/>
                        </a:rPr>
                        <a:t>Stays fully in-house</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Operational overhead</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EEF3FE"/>
                    </a:solidFill>
                  </a:tcPr>
                </a:tc>
                <a:tc>
                  <a:txBody>
                    <a:bodyPr/>
                    <a:lstStyle/>
                    <a:p>
                      <a:pPr algn="ctr" indent="0" marL="0">
                        <a:buNone/>
                      </a:pPr>
                      <a:r>
                        <a:rPr lang="en-US" sz="1150" dirty="0">
                          <a:solidFill>
                            <a:srgbClr val="1B2340"/>
                          </a:solidFill>
                          <a:latin typeface="Calibri" pitchFamily="34" charset="0"/>
                          <a:ea typeface="Calibri" pitchFamily="34" charset="-122"/>
                          <a:cs typeface="Calibri" pitchFamily="34" charset="-120"/>
                        </a:rPr>
                        <a:t>None — fully managed</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EEF3FE"/>
                    </a:solidFill>
                  </a:tcPr>
                </a:tc>
                <a:tc>
                  <a:txBody>
                    <a:bodyPr/>
                    <a:lstStyle/>
                    <a:p>
                      <a:pPr algn="ctr" indent="0" marL="0">
                        <a:buNone/>
                      </a:pPr>
                      <a:r>
                        <a:rPr lang="en-US" sz="1150" dirty="0">
                          <a:solidFill>
                            <a:srgbClr val="1B2340"/>
                          </a:solidFill>
                          <a:latin typeface="Calibri" pitchFamily="34" charset="0"/>
                          <a:ea typeface="Calibri" pitchFamily="34" charset="-122"/>
                          <a:cs typeface="Calibri" pitchFamily="34" charset="-120"/>
                        </a:rPr>
                        <a:t>Requires GPU hosting &amp; ops</a:t>
                      </a:r>
                      <a:endParaRPr lang="en-US" sz="1150" dirty="0">
                        <a:latin typeface="Calibri" charset="0"/>
                        <a:ea typeface="Calibri" charset="0"/>
                        <a:cs typeface="Calibri" charset="0"/>
                      </a:endParaRPr>
                    </a:p>
                  </a:txBody>
                  <a:tcPr marL="91440" marR="91440" marT="45720" marB="45720" anchor="ctr">
                    <a:lnL w="9525" cap="flat" cmpd="sng" algn="ctr">
                      <a:solidFill>
                        <a:srgbClr val="DCE3F7"/>
                      </a:solidFill>
                      <a:prstDash val="solid"/>
                      <a:round/>
                      <a:headEnd type="none" w="med" len="med"/>
                      <a:tailEnd type="none" w="med" len="med"/>
                    </a:lnL>
                    <a:lnR w="9525" cap="flat" cmpd="sng" algn="ctr">
                      <a:solidFill>
                        <a:srgbClr val="DCE3F7"/>
                      </a:solidFill>
                      <a:prstDash val="solid"/>
                      <a:round/>
                      <a:headEnd type="none" w="med" len="med"/>
                      <a:tailEnd type="none" w="med" len="med"/>
                    </a:lnR>
                    <a:lnT w="9525" cap="flat" cmpd="sng" algn="ctr">
                      <a:solidFill>
                        <a:srgbClr val="DCE3F7"/>
                      </a:solidFill>
                      <a:prstDash val="solid"/>
                      <a:round/>
                      <a:headEnd type="none" w="med" len="med"/>
                      <a:tailEnd type="none" w="med" len="med"/>
                    </a:lnT>
                    <a:lnB w="9525" cap="flat" cmpd="sng" algn="ctr">
                      <a:solidFill>
                        <a:srgbClr val="DCE3F7"/>
                      </a:solidFill>
                      <a:prstDash val="solid"/>
                      <a:round/>
                      <a:headEnd type="none" w="med" len="med"/>
                      <a:tailEnd type="none" w="med" len="med"/>
                    </a:lnB>
                    <a:solidFill>
                      <a:srgbClr val="EEF3FE"/>
                    </a:solidFill>
                  </a:tcPr>
                </a:tc>
              </a:tr>
            </a:tbl>
          </a:graphicData>
        </a:graphic>
      </p:graphicFrame>
      <p:sp>
        <p:nvSpPr>
          <p:cNvPr id="5" name="Shape 2"/>
          <p:cNvSpPr/>
          <p:nvPr/>
        </p:nvSpPr>
        <p:spPr>
          <a:xfrm>
            <a:off x="548640" y="5532120"/>
            <a:ext cx="11064240" cy="777240"/>
          </a:xfrm>
          <a:prstGeom prst="roundRect">
            <a:avLst>
              <a:gd name="adj" fmla="val 9412"/>
            </a:avLst>
          </a:prstGeom>
          <a:solidFill>
            <a:srgbClr val="EEF3FE"/>
          </a:solidFill>
          <a:ln w="12700">
            <a:solidFill>
              <a:srgbClr val="CADCFC"/>
            </a:solidFill>
            <a:prstDash val="solid"/>
          </a:ln>
        </p:spPr>
      </p:sp>
      <p:pic>
        <p:nvPicPr>
          <p:cNvPr id="6" name="Image 0" descr="/home/claude/deck/assets/icons/tradeoff.png">    </p:cNvPr>
          <p:cNvPicPr>
            <a:picLocks noChangeAspect="1"/>
          </p:cNvPicPr>
          <p:nvPr/>
        </p:nvPicPr>
        <p:blipFill>
          <a:blip r:embed="rId1"/>
          <a:stretch>
            <a:fillRect/>
          </a:stretch>
        </p:blipFill>
        <p:spPr>
          <a:xfrm>
            <a:off x="777240" y="5715000"/>
            <a:ext cx="384048" cy="384048"/>
          </a:xfrm>
          <a:prstGeom prst="rect">
            <a:avLst/>
          </a:prstGeom>
        </p:spPr>
      </p:pic>
      <p:sp>
        <p:nvSpPr>
          <p:cNvPr id="7" name="Text 3"/>
          <p:cNvSpPr/>
          <p:nvPr/>
        </p:nvSpPr>
        <p:spPr>
          <a:xfrm>
            <a:off x="1325880" y="5596128"/>
            <a:ext cx="10058400" cy="594360"/>
          </a:xfrm>
          <a:prstGeom prst="rect">
            <a:avLst/>
          </a:prstGeom>
          <a:noFill/>
          <a:ln/>
        </p:spPr>
        <p:txBody>
          <a:bodyPr wrap="square" lIns="0" tIns="0" rIns="0" bIns="0" rtlCol="0" anchor="ctr"/>
          <a:lstStyle/>
          <a:p>
            <a:pPr indent="0" marL="0">
              <a:buNone/>
            </a:pPr>
            <a:r>
              <a:rPr lang="en-US" sz="1200" i="1" dirty="0">
                <a:solidFill>
                  <a:srgbClr val="1E2761"/>
                </a:solidFill>
                <a:latin typeface="Calibri" pitchFamily="34" charset="0"/>
                <a:ea typeface="Calibri" pitchFamily="34" charset="-122"/>
                <a:cs typeface="Calibri" pitchFamily="34" charset="-120"/>
              </a:rPr>
              <a:t>The trade-off isn't “better vs. worse” — it's centralized intelligence vs. cost-efficient control. That framing drives the hybrid recommendation ahead.</a:t>
            </a:r>
            <a:endParaRPr lang="en-US" sz="1200" dirty="0"/>
          </a:p>
        </p:txBody>
      </p:sp>
      <p:sp>
        <p:nvSpPr>
          <p:cNvPr id="8" name="Text 4"/>
          <p:cNvSpPr/>
          <p:nvPr/>
        </p:nvSpPr>
        <p:spPr>
          <a:xfrm>
            <a:off x="457200" y="6547104"/>
            <a:ext cx="8229600" cy="256032"/>
          </a:xfrm>
          <a:prstGeom prst="rect">
            <a:avLst/>
          </a:prstGeom>
          <a:noFill/>
          <a:ln/>
        </p:spPr>
        <p:txBody>
          <a:bodyPr wrap="square" lIns="0" tIns="0" rIns="0" bIns="0" rtlCol="0" anchor="ctr"/>
          <a:lstStyle/>
          <a:p>
            <a:pPr indent="0" marL="0">
              <a:buNone/>
            </a:pPr>
            <a:r>
              <a:rPr lang="en-US" sz="850" spc="100" kern="0" dirty="0">
                <a:solidFill>
                  <a:srgbClr val="6C7599"/>
                </a:solidFill>
                <a:latin typeface="Calibri" pitchFamily="34" charset="0"/>
                <a:ea typeface="Calibri" pitchFamily="34" charset="-122"/>
                <a:cs typeface="Calibri" pitchFamily="34" charset="-120"/>
              </a:rPr>
              <a:t>AUTONOMOUS LOGISTICS REROUTING  |  AI RESEARCHER ASSESSMENT</a:t>
            </a:r>
            <a:endParaRPr lang="en-US" sz="850" dirty="0"/>
          </a:p>
        </p:txBody>
      </p:sp>
      <p:sp>
        <p:nvSpPr>
          <p:cNvPr id="9" name="Text 5"/>
          <p:cNvSpPr/>
          <p:nvPr/>
        </p:nvSpPr>
        <p:spPr>
          <a:xfrm>
            <a:off x="11430000" y="6547104"/>
            <a:ext cx="365760" cy="256032"/>
          </a:xfrm>
          <a:prstGeom prst="rect">
            <a:avLst/>
          </a:prstGeom>
          <a:noFill/>
          <a:ln/>
        </p:spPr>
        <p:txBody>
          <a:bodyPr wrap="square" lIns="0" tIns="0" rIns="0" bIns="0" rtlCol="0" anchor="ctr"/>
          <a:lstStyle/>
          <a:p>
            <a:pPr algn="r" indent="0" marL="0">
              <a:buNone/>
            </a:pPr>
            <a:r>
              <a:rPr lang="en-US" sz="850" dirty="0">
                <a:solidFill>
                  <a:srgbClr val="6C7599"/>
                </a:solidFill>
                <a:latin typeface="Calibri" pitchFamily="34" charset="0"/>
                <a:ea typeface="Calibri" pitchFamily="34" charset="-122"/>
                <a:cs typeface="Calibri"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F2A93B"/>
                </a:solidFill>
                <a:latin typeface="Calibri" pitchFamily="34" charset="0"/>
                <a:ea typeface="Calibri" pitchFamily="34" charset="-122"/>
                <a:cs typeface="Calibri" pitchFamily="34" charset="-120"/>
              </a:rPr>
              <a:t>FOUNDATIONS</a:t>
            </a:r>
            <a:endParaRPr lang="en-US" sz="1250" dirty="0"/>
          </a:p>
        </p:txBody>
      </p:sp>
      <p:sp>
        <p:nvSpPr>
          <p:cNvPr id="3" name="Text 1"/>
          <p:cNvSpPr/>
          <p:nvPr/>
        </p:nvSpPr>
        <p:spPr>
          <a:xfrm>
            <a:off x="548640" y="658368"/>
            <a:ext cx="10972800" cy="6858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techniques that make this system proactive, not just reactive</a:t>
            </a:r>
            <a:endParaRPr lang="en-US" sz="2600" dirty="0"/>
          </a:p>
        </p:txBody>
      </p:sp>
      <p:sp>
        <p:nvSpPr>
          <p:cNvPr id="4" name="Shape 2"/>
          <p:cNvSpPr/>
          <p:nvPr/>
        </p:nvSpPr>
        <p:spPr>
          <a:xfrm>
            <a:off x="502920" y="1691640"/>
            <a:ext cx="3611880" cy="1234440"/>
          </a:xfrm>
          <a:prstGeom prst="roundRect">
            <a:avLst>
              <a:gd name="adj" fmla="val 5926"/>
            </a:avLst>
          </a:prstGeom>
          <a:solidFill>
            <a:srgbClr val="141B49"/>
          </a:solidFill>
          <a:ln w="9525">
            <a:solidFill>
              <a:srgbClr val="343E7C"/>
            </a:solidFill>
            <a:prstDash val="solid"/>
          </a:ln>
        </p:spPr>
      </p:sp>
      <p:sp>
        <p:nvSpPr>
          <p:cNvPr id="5" name="Shape 3"/>
          <p:cNvSpPr/>
          <p:nvPr/>
        </p:nvSpPr>
        <p:spPr>
          <a:xfrm>
            <a:off x="667512" y="1856232"/>
            <a:ext cx="457200" cy="457200"/>
          </a:xfrm>
          <a:prstGeom prst="ellipse">
            <a:avLst/>
          </a:prstGeom>
          <a:solidFill>
            <a:srgbClr val="F2A93B"/>
          </a:solidFill>
          <a:ln/>
        </p:spPr>
      </p:sp>
      <p:pic>
        <p:nvPicPr>
          <p:cNvPr id="6" name="Image 0" descr="/home/claude/deck/assets/icons/langgraph.png">    </p:cNvPr>
          <p:cNvPicPr>
            <a:picLocks noChangeAspect="1"/>
          </p:cNvPicPr>
          <p:nvPr/>
        </p:nvPicPr>
        <p:blipFill>
          <a:blip r:embed="rId1"/>
          <a:stretch>
            <a:fillRect/>
          </a:stretch>
        </p:blipFill>
        <p:spPr>
          <a:xfrm>
            <a:off x="777240" y="1965960"/>
            <a:ext cx="237744" cy="237744"/>
          </a:xfrm>
          <a:prstGeom prst="rect">
            <a:avLst/>
          </a:prstGeom>
        </p:spPr>
      </p:pic>
      <p:sp>
        <p:nvSpPr>
          <p:cNvPr id="7" name="Text 4"/>
          <p:cNvSpPr/>
          <p:nvPr/>
        </p:nvSpPr>
        <p:spPr>
          <a:xfrm>
            <a:off x="1252728" y="180136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LangGraph</a:t>
            </a:r>
            <a:endParaRPr lang="en-US" sz="1250" dirty="0"/>
          </a:p>
        </p:txBody>
      </p:sp>
      <p:sp>
        <p:nvSpPr>
          <p:cNvPr id="8" name="Text 5"/>
          <p:cNvSpPr/>
          <p:nvPr/>
        </p:nvSpPr>
        <p:spPr>
          <a:xfrm>
            <a:off x="667512" y="2240280"/>
            <a:ext cx="3282696" cy="640080"/>
          </a:xfrm>
          <a:prstGeom prst="rect">
            <a:avLst/>
          </a:prstGeom>
          <a:noFill/>
          <a:ln/>
        </p:spPr>
        <p:txBody>
          <a:bodyPr wrap="square" lIns="0" tIns="0" rIns="0" bIns="0" rtlCol="0" anchor="ctr"/>
          <a:lstStyle/>
          <a:p>
            <a:pPr indent="0" marL="0">
              <a:lnSpc>
                <a:spcPct val="115000"/>
              </a:lnSpc>
              <a:buNone/>
            </a:pPr>
            <a:r>
              <a:rPr lang="en-US" sz="930" dirty="0">
                <a:solidFill>
                  <a:srgbClr val="AEB8E6"/>
                </a:solidFill>
                <a:latin typeface="Calibri" pitchFamily="34" charset="0"/>
                <a:ea typeface="Calibri" pitchFamily="34" charset="-122"/>
                <a:cs typeface="Calibri" pitchFamily="34" charset="-120"/>
              </a:rPr>
              <a:t>Orchestrates agents as a stateful, directed graph instead of a linear script.</a:t>
            </a:r>
            <a:endParaRPr lang="en-US" sz="930" dirty="0"/>
          </a:p>
        </p:txBody>
      </p:sp>
      <p:sp>
        <p:nvSpPr>
          <p:cNvPr id="9" name="Shape 6"/>
          <p:cNvSpPr/>
          <p:nvPr/>
        </p:nvSpPr>
        <p:spPr>
          <a:xfrm>
            <a:off x="4279392" y="1691640"/>
            <a:ext cx="3611880" cy="1234440"/>
          </a:xfrm>
          <a:prstGeom prst="roundRect">
            <a:avLst>
              <a:gd name="adj" fmla="val 5926"/>
            </a:avLst>
          </a:prstGeom>
          <a:solidFill>
            <a:srgbClr val="141B49"/>
          </a:solidFill>
          <a:ln w="9525">
            <a:solidFill>
              <a:srgbClr val="343E7C"/>
            </a:solidFill>
            <a:prstDash val="solid"/>
          </a:ln>
        </p:spPr>
      </p:sp>
      <p:sp>
        <p:nvSpPr>
          <p:cNvPr id="10" name="Shape 7"/>
          <p:cNvSpPr/>
          <p:nvPr/>
        </p:nvSpPr>
        <p:spPr>
          <a:xfrm>
            <a:off x="4443984" y="1856232"/>
            <a:ext cx="457200" cy="457200"/>
          </a:xfrm>
          <a:prstGeom prst="ellipse">
            <a:avLst/>
          </a:prstGeom>
          <a:solidFill>
            <a:srgbClr val="F2A93B"/>
          </a:solidFill>
          <a:ln/>
        </p:spPr>
      </p:sp>
      <p:pic>
        <p:nvPicPr>
          <p:cNvPr id="11" name="Image 1" descr="/home/claude/deck/assets/icons/statemgmt.png">    </p:cNvPr>
          <p:cNvPicPr>
            <a:picLocks noChangeAspect="1"/>
          </p:cNvPicPr>
          <p:nvPr/>
        </p:nvPicPr>
        <p:blipFill>
          <a:blip r:embed="rId2"/>
          <a:stretch>
            <a:fillRect/>
          </a:stretch>
        </p:blipFill>
        <p:spPr>
          <a:xfrm>
            <a:off x="4553712" y="1965960"/>
            <a:ext cx="237744" cy="237744"/>
          </a:xfrm>
          <a:prstGeom prst="rect">
            <a:avLst/>
          </a:prstGeom>
        </p:spPr>
      </p:pic>
      <p:sp>
        <p:nvSpPr>
          <p:cNvPr id="12" name="Text 8"/>
          <p:cNvSpPr/>
          <p:nvPr/>
        </p:nvSpPr>
        <p:spPr>
          <a:xfrm>
            <a:off x="5029200" y="180136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Graph-Based State</a:t>
            </a:r>
            <a:endParaRPr lang="en-US" sz="1250" dirty="0"/>
          </a:p>
        </p:txBody>
      </p:sp>
      <p:sp>
        <p:nvSpPr>
          <p:cNvPr id="13" name="Text 9"/>
          <p:cNvSpPr/>
          <p:nvPr/>
        </p:nvSpPr>
        <p:spPr>
          <a:xfrm>
            <a:off x="4443984" y="2240280"/>
            <a:ext cx="3282696" cy="640080"/>
          </a:xfrm>
          <a:prstGeom prst="rect">
            <a:avLst/>
          </a:prstGeom>
          <a:noFill/>
          <a:ln/>
        </p:spPr>
        <p:txBody>
          <a:bodyPr wrap="square" lIns="0" tIns="0" rIns="0" bIns="0" rtlCol="0" anchor="ctr"/>
          <a:lstStyle/>
          <a:p>
            <a:pPr indent="0" marL="0">
              <a:lnSpc>
                <a:spcPct val="115000"/>
              </a:lnSpc>
              <a:buNone/>
            </a:pPr>
            <a:r>
              <a:rPr lang="en-US" sz="930" dirty="0">
                <a:solidFill>
                  <a:srgbClr val="AEB8E6"/>
                </a:solidFill>
                <a:latin typeface="Calibri" pitchFamily="34" charset="0"/>
                <a:ea typeface="Calibri" pitchFamily="34" charset="-122"/>
                <a:cs typeface="Calibri" pitchFamily="34" charset="-120"/>
              </a:rPr>
              <a:t>One typed state object flows through every node — nothing is silently lost.</a:t>
            </a:r>
            <a:endParaRPr lang="en-US" sz="930" dirty="0"/>
          </a:p>
        </p:txBody>
      </p:sp>
      <p:sp>
        <p:nvSpPr>
          <p:cNvPr id="14" name="Shape 10"/>
          <p:cNvSpPr/>
          <p:nvPr/>
        </p:nvSpPr>
        <p:spPr>
          <a:xfrm>
            <a:off x="8055864" y="1691640"/>
            <a:ext cx="3611880" cy="1234440"/>
          </a:xfrm>
          <a:prstGeom prst="roundRect">
            <a:avLst>
              <a:gd name="adj" fmla="val 5926"/>
            </a:avLst>
          </a:prstGeom>
          <a:solidFill>
            <a:srgbClr val="141B49"/>
          </a:solidFill>
          <a:ln w="9525">
            <a:solidFill>
              <a:srgbClr val="343E7C"/>
            </a:solidFill>
            <a:prstDash val="solid"/>
          </a:ln>
        </p:spPr>
      </p:sp>
      <p:sp>
        <p:nvSpPr>
          <p:cNvPr id="15" name="Shape 11"/>
          <p:cNvSpPr/>
          <p:nvPr/>
        </p:nvSpPr>
        <p:spPr>
          <a:xfrm>
            <a:off x="8220456" y="1856232"/>
            <a:ext cx="457200" cy="457200"/>
          </a:xfrm>
          <a:prstGeom prst="ellipse">
            <a:avLst/>
          </a:prstGeom>
          <a:solidFill>
            <a:srgbClr val="F2A93B"/>
          </a:solidFill>
          <a:ln/>
        </p:spPr>
      </p:sp>
      <p:pic>
        <p:nvPicPr>
          <p:cNvPr id="16" name="Image 2" descr="/home/claude/deck/assets/icons/multiagent.png">    </p:cNvPr>
          <p:cNvPicPr>
            <a:picLocks noChangeAspect="1"/>
          </p:cNvPicPr>
          <p:nvPr/>
        </p:nvPicPr>
        <p:blipFill>
          <a:blip r:embed="rId3"/>
          <a:stretch>
            <a:fillRect/>
          </a:stretch>
        </p:blipFill>
        <p:spPr>
          <a:xfrm>
            <a:off x="8330184" y="1965960"/>
            <a:ext cx="237744" cy="237744"/>
          </a:xfrm>
          <a:prstGeom prst="rect">
            <a:avLst/>
          </a:prstGeom>
        </p:spPr>
      </p:pic>
      <p:sp>
        <p:nvSpPr>
          <p:cNvPr id="17" name="Text 12"/>
          <p:cNvSpPr/>
          <p:nvPr/>
        </p:nvSpPr>
        <p:spPr>
          <a:xfrm>
            <a:off x="8805672" y="180136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Multi-Agent Orchestration</a:t>
            </a:r>
            <a:endParaRPr lang="en-US" sz="1250" dirty="0"/>
          </a:p>
        </p:txBody>
      </p:sp>
      <p:sp>
        <p:nvSpPr>
          <p:cNvPr id="18" name="Text 13"/>
          <p:cNvSpPr/>
          <p:nvPr/>
        </p:nvSpPr>
        <p:spPr>
          <a:xfrm>
            <a:off x="8220456" y="2240280"/>
            <a:ext cx="3282696" cy="640080"/>
          </a:xfrm>
          <a:prstGeom prst="rect">
            <a:avLst/>
          </a:prstGeom>
          <a:noFill/>
          <a:ln/>
        </p:spPr>
        <p:txBody>
          <a:bodyPr wrap="square" lIns="0" tIns="0" rIns="0" bIns="0" rtlCol="0" anchor="ctr"/>
          <a:lstStyle/>
          <a:p>
            <a:pPr indent="0" marL="0">
              <a:lnSpc>
                <a:spcPct val="115000"/>
              </a:lnSpc>
              <a:buNone/>
            </a:pPr>
            <a:r>
              <a:rPr lang="en-US" sz="930" dirty="0">
                <a:solidFill>
                  <a:srgbClr val="AEB8E6"/>
                </a:solidFill>
                <a:latin typeface="Calibri" pitchFamily="34" charset="0"/>
                <a:ea typeface="Calibri" pitchFamily="34" charset="-122"/>
                <a:cs typeface="Calibri" pitchFamily="34" charset="-120"/>
              </a:rPr>
              <a:t>Specialized agents (detect, decide, act) collaborate instead of one do-everything prompt.</a:t>
            </a:r>
            <a:endParaRPr lang="en-US" sz="930" dirty="0"/>
          </a:p>
        </p:txBody>
      </p:sp>
      <p:sp>
        <p:nvSpPr>
          <p:cNvPr id="19" name="Shape 14"/>
          <p:cNvSpPr/>
          <p:nvPr/>
        </p:nvSpPr>
        <p:spPr>
          <a:xfrm>
            <a:off x="502920" y="3063240"/>
            <a:ext cx="3611880" cy="1234440"/>
          </a:xfrm>
          <a:prstGeom prst="roundRect">
            <a:avLst>
              <a:gd name="adj" fmla="val 5926"/>
            </a:avLst>
          </a:prstGeom>
          <a:solidFill>
            <a:srgbClr val="141B49"/>
          </a:solidFill>
          <a:ln w="9525">
            <a:solidFill>
              <a:srgbClr val="343E7C"/>
            </a:solidFill>
            <a:prstDash val="solid"/>
          </a:ln>
        </p:spPr>
      </p:sp>
      <p:sp>
        <p:nvSpPr>
          <p:cNvPr id="20" name="Shape 15"/>
          <p:cNvSpPr/>
          <p:nvPr/>
        </p:nvSpPr>
        <p:spPr>
          <a:xfrm>
            <a:off x="667512" y="3227832"/>
            <a:ext cx="457200" cy="457200"/>
          </a:xfrm>
          <a:prstGeom prst="ellipse">
            <a:avLst/>
          </a:prstGeom>
          <a:solidFill>
            <a:srgbClr val="F2A93B"/>
          </a:solidFill>
          <a:ln/>
        </p:spPr>
      </p:sp>
      <p:pic>
        <p:nvPicPr>
          <p:cNvPr id="21" name="Image 3" descr="/home/claude/deck/assets/icons/toolcalling.png">    </p:cNvPr>
          <p:cNvPicPr>
            <a:picLocks noChangeAspect="1"/>
          </p:cNvPicPr>
          <p:nvPr/>
        </p:nvPicPr>
        <p:blipFill>
          <a:blip r:embed="rId4"/>
          <a:stretch>
            <a:fillRect/>
          </a:stretch>
        </p:blipFill>
        <p:spPr>
          <a:xfrm>
            <a:off x="777240" y="3337560"/>
            <a:ext cx="237744" cy="237744"/>
          </a:xfrm>
          <a:prstGeom prst="rect">
            <a:avLst/>
          </a:prstGeom>
        </p:spPr>
      </p:pic>
      <p:sp>
        <p:nvSpPr>
          <p:cNvPr id="22" name="Text 16"/>
          <p:cNvSpPr/>
          <p:nvPr/>
        </p:nvSpPr>
        <p:spPr>
          <a:xfrm>
            <a:off x="1252728" y="317296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Tool Calling</a:t>
            </a:r>
            <a:endParaRPr lang="en-US" sz="1250" dirty="0"/>
          </a:p>
        </p:txBody>
      </p:sp>
      <p:sp>
        <p:nvSpPr>
          <p:cNvPr id="23" name="Text 17"/>
          <p:cNvSpPr/>
          <p:nvPr/>
        </p:nvSpPr>
        <p:spPr>
          <a:xfrm>
            <a:off x="667512" y="3611880"/>
            <a:ext cx="3282696" cy="640080"/>
          </a:xfrm>
          <a:prstGeom prst="rect">
            <a:avLst/>
          </a:prstGeom>
          <a:noFill/>
          <a:ln/>
        </p:spPr>
        <p:txBody>
          <a:bodyPr wrap="square" lIns="0" tIns="0" rIns="0" bIns="0" rtlCol="0" anchor="ctr"/>
          <a:lstStyle/>
          <a:p>
            <a:pPr indent="0" marL="0">
              <a:lnSpc>
                <a:spcPct val="115000"/>
              </a:lnSpc>
              <a:buNone/>
            </a:pPr>
            <a:r>
              <a:rPr lang="en-US" sz="930" dirty="0">
                <a:solidFill>
                  <a:srgbClr val="AEB8E6"/>
                </a:solidFill>
                <a:latin typeface="Calibri" pitchFamily="34" charset="0"/>
                <a:ea typeface="Calibri" pitchFamily="34" charset="-122"/>
                <a:cs typeface="Calibri" pitchFamily="34" charset="-120"/>
              </a:rPr>
              <a:t>Lets the model query live carrier, cost &amp; ETA data instead of guessing from memory.</a:t>
            </a:r>
            <a:endParaRPr lang="en-US" sz="930" dirty="0"/>
          </a:p>
        </p:txBody>
      </p:sp>
      <p:sp>
        <p:nvSpPr>
          <p:cNvPr id="24" name="Shape 18"/>
          <p:cNvSpPr/>
          <p:nvPr/>
        </p:nvSpPr>
        <p:spPr>
          <a:xfrm>
            <a:off x="4279392" y="3063240"/>
            <a:ext cx="3611880" cy="1234440"/>
          </a:xfrm>
          <a:prstGeom prst="roundRect">
            <a:avLst>
              <a:gd name="adj" fmla="val 5926"/>
            </a:avLst>
          </a:prstGeom>
          <a:solidFill>
            <a:srgbClr val="141B49"/>
          </a:solidFill>
          <a:ln w="9525">
            <a:solidFill>
              <a:srgbClr val="343E7C"/>
            </a:solidFill>
            <a:prstDash val="solid"/>
          </a:ln>
        </p:spPr>
      </p:sp>
      <p:sp>
        <p:nvSpPr>
          <p:cNvPr id="25" name="Shape 19"/>
          <p:cNvSpPr/>
          <p:nvPr/>
        </p:nvSpPr>
        <p:spPr>
          <a:xfrm>
            <a:off x="4443984" y="3227832"/>
            <a:ext cx="457200" cy="457200"/>
          </a:xfrm>
          <a:prstGeom prst="ellipse">
            <a:avLst/>
          </a:prstGeom>
          <a:solidFill>
            <a:srgbClr val="F2A93B"/>
          </a:solidFill>
          <a:ln/>
        </p:spPr>
      </p:sp>
      <p:pic>
        <p:nvPicPr>
          <p:cNvPr id="26" name="Image 4" descr="/home/claude/deck/assets/icons/memory.png">    </p:cNvPr>
          <p:cNvPicPr>
            <a:picLocks noChangeAspect="1"/>
          </p:cNvPicPr>
          <p:nvPr/>
        </p:nvPicPr>
        <p:blipFill>
          <a:blip r:embed="rId5"/>
          <a:stretch>
            <a:fillRect/>
          </a:stretch>
        </p:blipFill>
        <p:spPr>
          <a:xfrm>
            <a:off x="4553712" y="3337560"/>
            <a:ext cx="237744" cy="237744"/>
          </a:xfrm>
          <a:prstGeom prst="rect">
            <a:avLst/>
          </a:prstGeom>
        </p:spPr>
      </p:pic>
      <p:sp>
        <p:nvSpPr>
          <p:cNvPr id="27" name="Text 20"/>
          <p:cNvSpPr/>
          <p:nvPr/>
        </p:nvSpPr>
        <p:spPr>
          <a:xfrm>
            <a:off x="5029200" y="317296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Memory</a:t>
            </a:r>
            <a:endParaRPr lang="en-US" sz="1250" dirty="0"/>
          </a:p>
        </p:txBody>
      </p:sp>
      <p:sp>
        <p:nvSpPr>
          <p:cNvPr id="28" name="Text 21"/>
          <p:cNvSpPr/>
          <p:nvPr/>
        </p:nvSpPr>
        <p:spPr>
          <a:xfrm>
            <a:off x="4443984" y="3611880"/>
            <a:ext cx="3282696" cy="640080"/>
          </a:xfrm>
          <a:prstGeom prst="rect">
            <a:avLst/>
          </a:prstGeom>
          <a:noFill/>
          <a:ln/>
        </p:spPr>
        <p:txBody>
          <a:bodyPr wrap="square" lIns="0" tIns="0" rIns="0" bIns="0" rtlCol="0" anchor="ctr"/>
          <a:lstStyle/>
          <a:p>
            <a:pPr indent="0" marL="0">
              <a:lnSpc>
                <a:spcPct val="115000"/>
              </a:lnSpc>
              <a:buNone/>
            </a:pPr>
            <a:r>
              <a:rPr lang="en-US" sz="930" dirty="0">
                <a:solidFill>
                  <a:srgbClr val="AEB8E6"/>
                </a:solidFill>
                <a:latin typeface="Calibri" pitchFamily="34" charset="0"/>
                <a:ea typeface="Calibri" pitchFamily="34" charset="-122"/>
                <a:cs typeface="Calibri" pitchFamily="34" charset="-120"/>
              </a:rPr>
              <a:t>Retains shipment and decision history across steps for context-aware choices.</a:t>
            </a:r>
            <a:endParaRPr lang="en-US" sz="930" dirty="0"/>
          </a:p>
        </p:txBody>
      </p:sp>
      <p:sp>
        <p:nvSpPr>
          <p:cNvPr id="29" name="Shape 22"/>
          <p:cNvSpPr/>
          <p:nvPr/>
        </p:nvSpPr>
        <p:spPr>
          <a:xfrm>
            <a:off x="8055864" y="3063240"/>
            <a:ext cx="3611880" cy="1234440"/>
          </a:xfrm>
          <a:prstGeom prst="roundRect">
            <a:avLst>
              <a:gd name="adj" fmla="val 5926"/>
            </a:avLst>
          </a:prstGeom>
          <a:solidFill>
            <a:srgbClr val="141B49"/>
          </a:solidFill>
          <a:ln w="9525">
            <a:solidFill>
              <a:srgbClr val="343E7C"/>
            </a:solidFill>
            <a:prstDash val="solid"/>
          </a:ln>
        </p:spPr>
      </p:sp>
      <p:sp>
        <p:nvSpPr>
          <p:cNvPr id="30" name="Shape 23"/>
          <p:cNvSpPr/>
          <p:nvPr/>
        </p:nvSpPr>
        <p:spPr>
          <a:xfrm>
            <a:off x="8220456" y="3227832"/>
            <a:ext cx="457200" cy="457200"/>
          </a:xfrm>
          <a:prstGeom prst="ellipse">
            <a:avLst/>
          </a:prstGeom>
          <a:solidFill>
            <a:srgbClr val="F2A93B"/>
          </a:solidFill>
          <a:ln/>
        </p:spPr>
      </p:sp>
      <p:pic>
        <p:nvPicPr>
          <p:cNvPr id="31" name="Image 5" descr="/home/claude/deck/assets/icons/hitl.png">    </p:cNvPr>
          <p:cNvPicPr>
            <a:picLocks noChangeAspect="1"/>
          </p:cNvPicPr>
          <p:nvPr/>
        </p:nvPicPr>
        <p:blipFill>
          <a:blip r:embed="rId6"/>
          <a:stretch>
            <a:fillRect/>
          </a:stretch>
        </p:blipFill>
        <p:spPr>
          <a:xfrm>
            <a:off x="8330184" y="3337560"/>
            <a:ext cx="237744" cy="237744"/>
          </a:xfrm>
          <a:prstGeom prst="rect">
            <a:avLst/>
          </a:prstGeom>
        </p:spPr>
      </p:pic>
      <p:sp>
        <p:nvSpPr>
          <p:cNvPr id="32" name="Text 24"/>
          <p:cNvSpPr/>
          <p:nvPr/>
        </p:nvSpPr>
        <p:spPr>
          <a:xfrm>
            <a:off x="8805672" y="317296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Human-in-the-Loop</a:t>
            </a:r>
            <a:endParaRPr lang="en-US" sz="1250" dirty="0"/>
          </a:p>
        </p:txBody>
      </p:sp>
      <p:sp>
        <p:nvSpPr>
          <p:cNvPr id="33" name="Text 25"/>
          <p:cNvSpPr/>
          <p:nvPr/>
        </p:nvSpPr>
        <p:spPr>
          <a:xfrm>
            <a:off x="8220456" y="3611880"/>
            <a:ext cx="3282696" cy="640080"/>
          </a:xfrm>
          <a:prstGeom prst="rect">
            <a:avLst/>
          </a:prstGeom>
          <a:noFill/>
          <a:ln/>
        </p:spPr>
        <p:txBody>
          <a:bodyPr wrap="square" lIns="0" tIns="0" rIns="0" bIns="0" rtlCol="0" anchor="ctr"/>
          <a:lstStyle/>
          <a:p>
            <a:pPr indent="0" marL="0">
              <a:lnSpc>
                <a:spcPct val="115000"/>
              </a:lnSpc>
              <a:buNone/>
            </a:pPr>
            <a:r>
              <a:rPr lang="en-US" sz="930" dirty="0">
                <a:solidFill>
                  <a:srgbClr val="AEB8E6"/>
                </a:solidFill>
                <a:latin typeface="Calibri" pitchFamily="34" charset="0"/>
                <a:ea typeface="Calibri" pitchFamily="34" charset="-122"/>
                <a:cs typeface="Calibri" pitchFamily="34" charset="-120"/>
              </a:rPr>
              <a:t>Escalates high-risk or low-confidence reroutes for approval before executing.</a:t>
            </a:r>
            <a:endParaRPr lang="en-US" sz="930" dirty="0"/>
          </a:p>
        </p:txBody>
      </p:sp>
      <p:sp>
        <p:nvSpPr>
          <p:cNvPr id="34" name="Shape 26"/>
          <p:cNvSpPr/>
          <p:nvPr/>
        </p:nvSpPr>
        <p:spPr>
          <a:xfrm>
            <a:off x="502920" y="4434840"/>
            <a:ext cx="3611880" cy="1234440"/>
          </a:xfrm>
          <a:prstGeom prst="roundRect">
            <a:avLst>
              <a:gd name="adj" fmla="val 5926"/>
            </a:avLst>
          </a:prstGeom>
          <a:solidFill>
            <a:srgbClr val="141B49"/>
          </a:solidFill>
          <a:ln w="9525">
            <a:solidFill>
              <a:srgbClr val="343E7C"/>
            </a:solidFill>
            <a:prstDash val="solid"/>
          </a:ln>
        </p:spPr>
      </p:sp>
      <p:sp>
        <p:nvSpPr>
          <p:cNvPr id="35" name="Shape 27"/>
          <p:cNvSpPr/>
          <p:nvPr/>
        </p:nvSpPr>
        <p:spPr>
          <a:xfrm>
            <a:off x="667512" y="4599432"/>
            <a:ext cx="457200" cy="457200"/>
          </a:xfrm>
          <a:prstGeom prst="ellipse">
            <a:avLst/>
          </a:prstGeom>
          <a:solidFill>
            <a:srgbClr val="F2A93B"/>
          </a:solidFill>
          <a:ln/>
        </p:spPr>
      </p:sp>
      <p:pic>
        <p:nvPicPr>
          <p:cNvPr id="36" name="Image 6" descr="/home/claude/deck/assets/icons/selfheal.png">    </p:cNvPr>
          <p:cNvPicPr>
            <a:picLocks noChangeAspect="1"/>
          </p:cNvPicPr>
          <p:nvPr/>
        </p:nvPicPr>
        <p:blipFill>
          <a:blip r:embed="rId7"/>
          <a:stretch>
            <a:fillRect/>
          </a:stretch>
        </p:blipFill>
        <p:spPr>
          <a:xfrm>
            <a:off x="777240" y="4709160"/>
            <a:ext cx="237744" cy="237744"/>
          </a:xfrm>
          <a:prstGeom prst="rect">
            <a:avLst/>
          </a:prstGeom>
        </p:spPr>
      </p:pic>
      <p:sp>
        <p:nvSpPr>
          <p:cNvPr id="37" name="Text 28"/>
          <p:cNvSpPr/>
          <p:nvPr/>
        </p:nvSpPr>
        <p:spPr>
          <a:xfrm>
            <a:off x="1252728" y="454456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Self-Healing Agents</a:t>
            </a:r>
            <a:endParaRPr lang="en-US" sz="1250" dirty="0"/>
          </a:p>
        </p:txBody>
      </p:sp>
      <p:sp>
        <p:nvSpPr>
          <p:cNvPr id="38" name="Text 29"/>
          <p:cNvSpPr/>
          <p:nvPr/>
        </p:nvSpPr>
        <p:spPr>
          <a:xfrm>
            <a:off x="667512" y="4983480"/>
            <a:ext cx="3282696" cy="640080"/>
          </a:xfrm>
          <a:prstGeom prst="rect">
            <a:avLst/>
          </a:prstGeom>
          <a:noFill/>
          <a:ln/>
        </p:spPr>
        <p:txBody>
          <a:bodyPr wrap="square" lIns="0" tIns="0" rIns="0" bIns="0" rtlCol="0" anchor="ctr"/>
          <a:lstStyle/>
          <a:p>
            <a:pPr indent="0" marL="0">
              <a:lnSpc>
                <a:spcPct val="115000"/>
              </a:lnSpc>
              <a:buNone/>
            </a:pPr>
            <a:r>
              <a:rPr lang="en-US" sz="930" dirty="0">
                <a:solidFill>
                  <a:srgbClr val="AEB8E6"/>
                </a:solidFill>
                <a:latin typeface="Calibri" pitchFamily="34" charset="0"/>
                <a:ea typeface="Calibri" pitchFamily="34" charset="-122"/>
                <a:cs typeface="Calibri" pitchFamily="34" charset="-120"/>
              </a:rPr>
              <a:t>Detects failed tool calls or bad data and retries or reroutes automatically.</a:t>
            </a:r>
            <a:endParaRPr lang="en-US" sz="930" dirty="0"/>
          </a:p>
        </p:txBody>
      </p:sp>
      <p:sp>
        <p:nvSpPr>
          <p:cNvPr id="39" name="Shape 30"/>
          <p:cNvSpPr/>
          <p:nvPr/>
        </p:nvSpPr>
        <p:spPr>
          <a:xfrm>
            <a:off x="4279392" y="4434840"/>
            <a:ext cx="3611880" cy="1234440"/>
          </a:xfrm>
          <a:prstGeom prst="roundRect">
            <a:avLst>
              <a:gd name="adj" fmla="val 5926"/>
            </a:avLst>
          </a:prstGeom>
          <a:solidFill>
            <a:srgbClr val="141B49"/>
          </a:solidFill>
          <a:ln w="9525">
            <a:solidFill>
              <a:srgbClr val="343E7C"/>
            </a:solidFill>
            <a:prstDash val="solid"/>
          </a:ln>
        </p:spPr>
      </p:sp>
      <p:sp>
        <p:nvSpPr>
          <p:cNvPr id="40" name="Shape 31"/>
          <p:cNvSpPr/>
          <p:nvPr/>
        </p:nvSpPr>
        <p:spPr>
          <a:xfrm>
            <a:off x="4443984" y="4599432"/>
            <a:ext cx="457200" cy="457200"/>
          </a:xfrm>
          <a:prstGeom prst="ellipse">
            <a:avLst/>
          </a:prstGeom>
          <a:solidFill>
            <a:srgbClr val="F2A93B"/>
          </a:solidFill>
          <a:ln/>
        </p:spPr>
      </p:sp>
      <p:pic>
        <p:nvPicPr>
          <p:cNvPr id="41" name="Image 7" descr="/home/claude/deck/assets/icons/monitoring.png">    </p:cNvPr>
          <p:cNvPicPr>
            <a:picLocks noChangeAspect="1"/>
          </p:cNvPicPr>
          <p:nvPr/>
        </p:nvPicPr>
        <p:blipFill>
          <a:blip r:embed="rId8"/>
          <a:stretch>
            <a:fillRect/>
          </a:stretch>
        </p:blipFill>
        <p:spPr>
          <a:xfrm>
            <a:off x="4553712" y="4709160"/>
            <a:ext cx="237744" cy="237744"/>
          </a:xfrm>
          <a:prstGeom prst="rect">
            <a:avLst/>
          </a:prstGeom>
        </p:spPr>
      </p:pic>
      <p:sp>
        <p:nvSpPr>
          <p:cNvPr id="42" name="Text 32"/>
          <p:cNvSpPr/>
          <p:nvPr/>
        </p:nvSpPr>
        <p:spPr>
          <a:xfrm>
            <a:off x="5029200" y="454456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Process Monitoring</a:t>
            </a:r>
            <a:endParaRPr lang="en-US" sz="1250" dirty="0"/>
          </a:p>
        </p:txBody>
      </p:sp>
      <p:sp>
        <p:nvSpPr>
          <p:cNvPr id="43" name="Text 33"/>
          <p:cNvSpPr/>
          <p:nvPr/>
        </p:nvSpPr>
        <p:spPr>
          <a:xfrm>
            <a:off x="4443984" y="4983480"/>
            <a:ext cx="3282696" cy="640080"/>
          </a:xfrm>
          <a:prstGeom prst="rect">
            <a:avLst/>
          </a:prstGeom>
          <a:noFill/>
          <a:ln/>
        </p:spPr>
        <p:txBody>
          <a:bodyPr wrap="square" lIns="0" tIns="0" rIns="0" bIns="0" rtlCol="0" anchor="ctr"/>
          <a:lstStyle/>
          <a:p>
            <a:pPr indent="0" marL="0">
              <a:lnSpc>
                <a:spcPct val="115000"/>
              </a:lnSpc>
              <a:buNone/>
            </a:pPr>
            <a:r>
              <a:rPr lang="en-US" sz="930" dirty="0">
                <a:solidFill>
                  <a:srgbClr val="AEB8E6"/>
                </a:solidFill>
                <a:latin typeface="Calibri" pitchFamily="34" charset="0"/>
                <a:ea typeface="Calibri" pitchFamily="34" charset="-122"/>
                <a:cs typeface="Calibri" pitchFamily="34" charset="-120"/>
              </a:rPr>
              <a:t>Tracks every agent's live status so stalled workflows surface immediately.</a:t>
            </a:r>
            <a:endParaRPr lang="en-US" sz="930" dirty="0"/>
          </a:p>
        </p:txBody>
      </p:sp>
      <p:sp>
        <p:nvSpPr>
          <p:cNvPr id="44" name="Shape 34"/>
          <p:cNvSpPr/>
          <p:nvPr/>
        </p:nvSpPr>
        <p:spPr>
          <a:xfrm>
            <a:off x="8055864" y="4434840"/>
            <a:ext cx="3611880" cy="1234440"/>
          </a:xfrm>
          <a:prstGeom prst="roundRect">
            <a:avLst>
              <a:gd name="adj" fmla="val 5926"/>
            </a:avLst>
          </a:prstGeom>
          <a:solidFill>
            <a:srgbClr val="141B49"/>
          </a:solidFill>
          <a:ln w="9525">
            <a:solidFill>
              <a:srgbClr val="343E7C"/>
            </a:solidFill>
            <a:prstDash val="solid"/>
          </a:ln>
        </p:spPr>
      </p:sp>
      <p:sp>
        <p:nvSpPr>
          <p:cNvPr id="45" name="Shape 35"/>
          <p:cNvSpPr/>
          <p:nvPr/>
        </p:nvSpPr>
        <p:spPr>
          <a:xfrm>
            <a:off x="8220456" y="4599432"/>
            <a:ext cx="457200" cy="457200"/>
          </a:xfrm>
          <a:prstGeom prst="ellipse">
            <a:avLst/>
          </a:prstGeom>
          <a:solidFill>
            <a:srgbClr val="F2A93B"/>
          </a:solidFill>
          <a:ln/>
        </p:spPr>
      </p:sp>
      <p:pic>
        <p:nvPicPr>
          <p:cNvPr id="46" name="Image 8" descr="/home/claude/deck/assets/icons/mining.png">    </p:cNvPr>
          <p:cNvPicPr>
            <a:picLocks noChangeAspect="1"/>
          </p:cNvPicPr>
          <p:nvPr/>
        </p:nvPicPr>
        <p:blipFill>
          <a:blip r:embed="rId9"/>
          <a:stretch>
            <a:fillRect/>
          </a:stretch>
        </p:blipFill>
        <p:spPr>
          <a:xfrm>
            <a:off x="8330184" y="4709160"/>
            <a:ext cx="237744" cy="237744"/>
          </a:xfrm>
          <a:prstGeom prst="rect">
            <a:avLst/>
          </a:prstGeom>
        </p:spPr>
      </p:pic>
      <p:sp>
        <p:nvSpPr>
          <p:cNvPr id="47" name="Text 36"/>
          <p:cNvSpPr/>
          <p:nvPr/>
        </p:nvSpPr>
        <p:spPr>
          <a:xfrm>
            <a:off x="8805672" y="454456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Process Mining</a:t>
            </a:r>
            <a:endParaRPr lang="en-US" sz="1250" dirty="0"/>
          </a:p>
        </p:txBody>
      </p:sp>
      <p:sp>
        <p:nvSpPr>
          <p:cNvPr id="48" name="Text 37"/>
          <p:cNvSpPr/>
          <p:nvPr/>
        </p:nvSpPr>
        <p:spPr>
          <a:xfrm>
            <a:off x="8220456" y="4983480"/>
            <a:ext cx="3282696" cy="640080"/>
          </a:xfrm>
          <a:prstGeom prst="rect">
            <a:avLst/>
          </a:prstGeom>
          <a:noFill/>
          <a:ln/>
        </p:spPr>
        <p:txBody>
          <a:bodyPr wrap="square" lIns="0" tIns="0" rIns="0" bIns="0" rtlCol="0" anchor="ctr"/>
          <a:lstStyle/>
          <a:p>
            <a:pPr indent="0" marL="0">
              <a:lnSpc>
                <a:spcPct val="115000"/>
              </a:lnSpc>
              <a:buNone/>
            </a:pPr>
            <a:r>
              <a:rPr lang="en-US" sz="930" dirty="0">
                <a:solidFill>
                  <a:srgbClr val="AEB8E6"/>
                </a:solidFill>
                <a:latin typeface="Calibri" pitchFamily="34" charset="0"/>
                <a:ea typeface="Calibri" pitchFamily="34" charset="-122"/>
                <a:cs typeface="Calibri" pitchFamily="34" charset="-120"/>
              </a:rPr>
              <a:t>Analyzes historical run logs to find bottlenecks and optimize the graph.</a:t>
            </a:r>
            <a:endParaRPr lang="en-US" sz="930" dirty="0"/>
          </a:p>
        </p:txBody>
      </p:sp>
      <p:sp>
        <p:nvSpPr>
          <p:cNvPr id="49" name="Shape 38"/>
          <p:cNvSpPr/>
          <p:nvPr/>
        </p:nvSpPr>
        <p:spPr>
          <a:xfrm>
            <a:off x="502920" y="5806440"/>
            <a:ext cx="3611880" cy="1234440"/>
          </a:xfrm>
          <a:prstGeom prst="roundRect">
            <a:avLst>
              <a:gd name="adj" fmla="val 5926"/>
            </a:avLst>
          </a:prstGeom>
          <a:solidFill>
            <a:srgbClr val="141B49"/>
          </a:solidFill>
          <a:ln w="9525">
            <a:solidFill>
              <a:srgbClr val="343E7C"/>
            </a:solidFill>
            <a:prstDash val="solid"/>
          </a:ln>
        </p:spPr>
      </p:sp>
      <p:sp>
        <p:nvSpPr>
          <p:cNvPr id="50" name="Shape 39"/>
          <p:cNvSpPr/>
          <p:nvPr/>
        </p:nvSpPr>
        <p:spPr>
          <a:xfrm>
            <a:off x="667512" y="5971032"/>
            <a:ext cx="457200" cy="457200"/>
          </a:xfrm>
          <a:prstGeom prst="ellipse">
            <a:avLst/>
          </a:prstGeom>
          <a:solidFill>
            <a:srgbClr val="F2A93B"/>
          </a:solidFill>
          <a:ln/>
        </p:spPr>
      </p:sp>
      <p:pic>
        <p:nvPicPr>
          <p:cNvPr id="51" name="Image 9" descr="/home/claude/deck/assets/icons/skills.png">    </p:cNvPr>
          <p:cNvPicPr>
            <a:picLocks noChangeAspect="1"/>
          </p:cNvPicPr>
          <p:nvPr/>
        </p:nvPicPr>
        <p:blipFill>
          <a:blip r:embed="rId10"/>
          <a:stretch>
            <a:fillRect/>
          </a:stretch>
        </p:blipFill>
        <p:spPr>
          <a:xfrm>
            <a:off x="777240" y="6080760"/>
            <a:ext cx="237744" cy="237744"/>
          </a:xfrm>
          <a:prstGeom prst="rect">
            <a:avLst/>
          </a:prstGeom>
        </p:spPr>
      </p:pic>
      <p:sp>
        <p:nvSpPr>
          <p:cNvPr id="52" name="Text 40"/>
          <p:cNvSpPr/>
          <p:nvPr/>
        </p:nvSpPr>
        <p:spPr>
          <a:xfrm>
            <a:off x="1252728" y="591616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Claude Skills</a:t>
            </a:r>
            <a:endParaRPr lang="en-US" sz="1250" dirty="0"/>
          </a:p>
        </p:txBody>
      </p:sp>
      <p:sp>
        <p:nvSpPr>
          <p:cNvPr id="53" name="Text 41"/>
          <p:cNvSpPr/>
          <p:nvPr/>
        </p:nvSpPr>
        <p:spPr>
          <a:xfrm>
            <a:off x="667512" y="6355080"/>
            <a:ext cx="3282696" cy="640080"/>
          </a:xfrm>
          <a:prstGeom prst="rect">
            <a:avLst/>
          </a:prstGeom>
          <a:noFill/>
          <a:ln/>
        </p:spPr>
        <p:txBody>
          <a:bodyPr wrap="square" lIns="0" tIns="0" rIns="0" bIns="0" rtlCol="0" anchor="ctr"/>
          <a:lstStyle/>
          <a:p>
            <a:pPr indent="0" marL="0">
              <a:lnSpc>
                <a:spcPct val="115000"/>
              </a:lnSpc>
              <a:buNone/>
            </a:pPr>
            <a:r>
              <a:rPr lang="en-US" sz="930" dirty="0">
                <a:solidFill>
                  <a:srgbClr val="AEB8E6"/>
                </a:solidFill>
                <a:latin typeface="Calibri" pitchFamily="34" charset="0"/>
                <a:ea typeface="Calibri" pitchFamily="34" charset="-122"/>
                <a:cs typeface="Calibri" pitchFamily="34" charset="-120"/>
              </a:rPr>
              <a:t>Packages reusable, versioned expertise (e.g. carrier-scoring logic) agents can invoke.</a:t>
            </a:r>
            <a:endParaRPr lang="en-US" sz="930" dirty="0"/>
          </a:p>
        </p:txBody>
      </p:sp>
      <p:sp>
        <p:nvSpPr>
          <p:cNvPr id="54" name="Shape 42"/>
          <p:cNvSpPr/>
          <p:nvPr/>
        </p:nvSpPr>
        <p:spPr>
          <a:xfrm>
            <a:off x="4279392" y="5806440"/>
            <a:ext cx="3611880" cy="1234440"/>
          </a:xfrm>
          <a:prstGeom prst="roundRect">
            <a:avLst>
              <a:gd name="adj" fmla="val 5926"/>
            </a:avLst>
          </a:prstGeom>
          <a:solidFill>
            <a:srgbClr val="141B49"/>
          </a:solidFill>
          <a:ln w="9525">
            <a:solidFill>
              <a:srgbClr val="343E7C"/>
            </a:solidFill>
            <a:prstDash val="solid"/>
          </a:ln>
        </p:spPr>
      </p:sp>
      <p:sp>
        <p:nvSpPr>
          <p:cNvPr id="55" name="Shape 43"/>
          <p:cNvSpPr/>
          <p:nvPr/>
        </p:nvSpPr>
        <p:spPr>
          <a:xfrm>
            <a:off x="4443984" y="5971032"/>
            <a:ext cx="457200" cy="457200"/>
          </a:xfrm>
          <a:prstGeom prst="ellipse">
            <a:avLst/>
          </a:prstGeom>
          <a:solidFill>
            <a:srgbClr val="F2A93B"/>
          </a:solidFill>
          <a:ln/>
        </p:spPr>
      </p:sp>
      <p:pic>
        <p:nvPicPr>
          <p:cNvPr id="56" name="Image 10" descr="/home/claude/deck/assets/icons/rag.png">    </p:cNvPr>
          <p:cNvPicPr>
            <a:picLocks noChangeAspect="1"/>
          </p:cNvPicPr>
          <p:nvPr/>
        </p:nvPicPr>
        <p:blipFill>
          <a:blip r:embed="rId11"/>
          <a:stretch>
            <a:fillRect/>
          </a:stretch>
        </p:blipFill>
        <p:spPr>
          <a:xfrm>
            <a:off x="4553712" y="6080760"/>
            <a:ext cx="237744" cy="237744"/>
          </a:xfrm>
          <a:prstGeom prst="rect">
            <a:avLst/>
          </a:prstGeom>
        </p:spPr>
      </p:pic>
      <p:sp>
        <p:nvSpPr>
          <p:cNvPr id="57" name="Text 44"/>
          <p:cNvSpPr/>
          <p:nvPr/>
        </p:nvSpPr>
        <p:spPr>
          <a:xfrm>
            <a:off x="5029200" y="591616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RAG</a:t>
            </a:r>
            <a:endParaRPr lang="en-US" sz="1250" dirty="0"/>
          </a:p>
        </p:txBody>
      </p:sp>
      <p:sp>
        <p:nvSpPr>
          <p:cNvPr id="58" name="Text 45"/>
          <p:cNvSpPr/>
          <p:nvPr/>
        </p:nvSpPr>
        <p:spPr>
          <a:xfrm>
            <a:off x="4443984" y="6355080"/>
            <a:ext cx="3282696" cy="640080"/>
          </a:xfrm>
          <a:prstGeom prst="rect">
            <a:avLst/>
          </a:prstGeom>
          <a:noFill/>
          <a:ln/>
        </p:spPr>
        <p:txBody>
          <a:bodyPr wrap="square" lIns="0" tIns="0" rIns="0" bIns="0" rtlCol="0" anchor="ctr"/>
          <a:lstStyle/>
          <a:p>
            <a:pPr indent="0" marL="0">
              <a:lnSpc>
                <a:spcPct val="115000"/>
              </a:lnSpc>
              <a:buNone/>
            </a:pPr>
            <a:r>
              <a:rPr lang="en-US" sz="930" dirty="0">
                <a:solidFill>
                  <a:srgbClr val="AEB8E6"/>
                </a:solidFill>
                <a:latin typeface="Calibri" pitchFamily="34" charset="0"/>
                <a:ea typeface="Calibri" pitchFamily="34" charset="-122"/>
                <a:cs typeface="Calibri" pitchFamily="34" charset="-120"/>
              </a:rPr>
              <a:t>Grounds decisions in live carrier contracts &amp; SLAs instead of stale model knowledge.</a:t>
            </a:r>
            <a:endParaRPr lang="en-US" sz="930" dirty="0"/>
          </a:p>
        </p:txBody>
      </p:sp>
      <p:sp>
        <p:nvSpPr>
          <p:cNvPr id="59" name="Shape 46"/>
          <p:cNvSpPr/>
          <p:nvPr/>
        </p:nvSpPr>
        <p:spPr>
          <a:xfrm>
            <a:off x="8055864" y="5806440"/>
            <a:ext cx="3611880" cy="1234440"/>
          </a:xfrm>
          <a:prstGeom prst="roundRect">
            <a:avLst>
              <a:gd name="adj" fmla="val 5926"/>
            </a:avLst>
          </a:prstGeom>
          <a:solidFill>
            <a:srgbClr val="141B49"/>
          </a:solidFill>
          <a:ln w="9525">
            <a:solidFill>
              <a:srgbClr val="343E7C"/>
            </a:solidFill>
            <a:prstDash val="solid"/>
          </a:ln>
        </p:spPr>
      </p:sp>
      <p:sp>
        <p:nvSpPr>
          <p:cNvPr id="60" name="Shape 47"/>
          <p:cNvSpPr/>
          <p:nvPr/>
        </p:nvSpPr>
        <p:spPr>
          <a:xfrm>
            <a:off x="8220456" y="5971032"/>
            <a:ext cx="457200" cy="457200"/>
          </a:xfrm>
          <a:prstGeom prst="ellipse">
            <a:avLst/>
          </a:prstGeom>
          <a:solidFill>
            <a:srgbClr val="F2A93B"/>
          </a:solidFill>
          <a:ln/>
        </p:spPr>
      </p:sp>
      <p:pic>
        <p:nvPicPr>
          <p:cNvPr id="61" name="Image 11" descr="/home/claude/deck/assets/icons/structured.png">    </p:cNvPr>
          <p:cNvPicPr>
            <a:picLocks noChangeAspect="1"/>
          </p:cNvPicPr>
          <p:nvPr/>
        </p:nvPicPr>
        <p:blipFill>
          <a:blip r:embed="rId12"/>
          <a:stretch>
            <a:fillRect/>
          </a:stretch>
        </p:blipFill>
        <p:spPr>
          <a:xfrm>
            <a:off x="8330184" y="6080760"/>
            <a:ext cx="237744" cy="237744"/>
          </a:xfrm>
          <a:prstGeom prst="rect">
            <a:avLst/>
          </a:prstGeom>
        </p:spPr>
      </p:pic>
      <p:sp>
        <p:nvSpPr>
          <p:cNvPr id="62" name="Text 48"/>
          <p:cNvSpPr/>
          <p:nvPr/>
        </p:nvSpPr>
        <p:spPr>
          <a:xfrm>
            <a:off x="8805672" y="5916168"/>
            <a:ext cx="26974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Structured Outputs</a:t>
            </a:r>
            <a:endParaRPr lang="en-US" sz="1250" dirty="0"/>
          </a:p>
        </p:txBody>
      </p:sp>
      <p:sp>
        <p:nvSpPr>
          <p:cNvPr id="63" name="Text 49"/>
          <p:cNvSpPr/>
          <p:nvPr/>
        </p:nvSpPr>
        <p:spPr>
          <a:xfrm>
            <a:off x="8220456" y="6355080"/>
            <a:ext cx="3282696" cy="640080"/>
          </a:xfrm>
          <a:prstGeom prst="rect">
            <a:avLst/>
          </a:prstGeom>
          <a:noFill/>
          <a:ln/>
        </p:spPr>
        <p:txBody>
          <a:bodyPr wrap="square" lIns="0" tIns="0" rIns="0" bIns="0" rtlCol="0" anchor="ctr"/>
          <a:lstStyle/>
          <a:p>
            <a:pPr indent="0" marL="0">
              <a:lnSpc>
                <a:spcPct val="115000"/>
              </a:lnSpc>
              <a:buNone/>
            </a:pPr>
            <a:r>
              <a:rPr lang="en-US" sz="930" dirty="0">
                <a:solidFill>
                  <a:srgbClr val="AEB8E6"/>
                </a:solidFill>
                <a:latin typeface="Calibri" pitchFamily="34" charset="0"/>
                <a:ea typeface="Calibri" pitchFamily="34" charset="-122"/>
                <a:cs typeface="Calibri" pitchFamily="34" charset="-120"/>
              </a:rPr>
              <a:t>Forces machine-parseable decisions so downstream systems act without ambiguity.</a:t>
            </a:r>
            <a:endParaRPr lang="en-US" sz="930" dirty="0"/>
          </a:p>
        </p:txBody>
      </p:sp>
      <p:sp>
        <p:nvSpPr>
          <p:cNvPr id="64" name="Text 50"/>
          <p:cNvSpPr/>
          <p:nvPr/>
        </p:nvSpPr>
        <p:spPr>
          <a:xfrm>
            <a:off x="457200" y="6547104"/>
            <a:ext cx="8229600" cy="256032"/>
          </a:xfrm>
          <a:prstGeom prst="rect">
            <a:avLst/>
          </a:prstGeom>
          <a:noFill/>
          <a:ln/>
        </p:spPr>
        <p:txBody>
          <a:bodyPr wrap="square" lIns="0" tIns="0" rIns="0" bIns="0" rtlCol="0" anchor="ctr"/>
          <a:lstStyle/>
          <a:p>
            <a:pPr indent="0" marL="0">
              <a:buNone/>
            </a:pPr>
            <a:r>
              <a:rPr lang="en-US" sz="850" spc="100" kern="0" dirty="0">
                <a:solidFill>
                  <a:srgbClr val="8891C4"/>
                </a:solidFill>
                <a:latin typeface="Calibri" pitchFamily="34" charset="0"/>
                <a:ea typeface="Calibri" pitchFamily="34" charset="-122"/>
                <a:cs typeface="Calibri" pitchFamily="34" charset="-120"/>
              </a:rPr>
              <a:t>AUTONOMOUS LOGISTICS REROUTING  |  AI RESEARCHER ASSESSMENT</a:t>
            </a:r>
            <a:endParaRPr lang="en-US" sz="850" dirty="0"/>
          </a:p>
        </p:txBody>
      </p:sp>
      <p:sp>
        <p:nvSpPr>
          <p:cNvPr id="65" name="Text 51"/>
          <p:cNvSpPr/>
          <p:nvPr/>
        </p:nvSpPr>
        <p:spPr>
          <a:xfrm>
            <a:off x="11430000" y="6547104"/>
            <a:ext cx="365760" cy="256032"/>
          </a:xfrm>
          <a:prstGeom prst="rect">
            <a:avLst/>
          </a:prstGeom>
          <a:noFill/>
          <a:ln/>
        </p:spPr>
        <p:txBody>
          <a:bodyPr wrap="square" lIns="0" tIns="0" rIns="0" bIns="0" rtlCol="0" anchor="ctr"/>
          <a:lstStyle/>
          <a:p>
            <a:pPr algn="r" indent="0" marL="0">
              <a:buNone/>
            </a:pPr>
            <a:r>
              <a:rPr lang="en-US" sz="850" dirty="0">
                <a:solidFill>
                  <a:srgbClr val="8891C4"/>
                </a:solidFill>
                <a:latin typeface="Calibri" pitchFamily="34" charset="0"/>
                <a:ea typeface="Calibri" pitchFamily="34" charset="-122"/>
                <a:cs typeface="Calibri"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F2A93B"/>
                </a:solidFill>
                <a:latin typeface="Calibri" pitchFamily="34" charset="0"/>
                <a:ea typeface="Calibri" pitchFamily="34" charset="-122"/>
                <a:cs typeface="Calibri" pitchFamily="34" charset="-120"/>
              </a:rPr>
              <a:t>PART 3 — RECOMMENDATION</a:t>
            </a:r>
            <a:endParaRPr lang="en-US" sz="125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Can Llama 3.3 replace GPT-5? Not alone —</a:t>
            </a:r>
            <a:endParaRPr lang="en-US" sz="3000" dirty="0"/>
          </a:p>
          <a:p>
            <a:pPr indent="0" marL="0">
              <a:buNone/>
            </a:pPr>
            <a:r>
              <a:rPr lang="en-US" sz="3000" b="1" dirty="0">
                <a:solidFill>
                  <a:srgbClr val="1E2761"/>
                </a:solidFill>
                <a:latin typeface="Cambria" pitchFamily="34" charset="0"/>
                <a:ea typeface="Cambria" pitchFamily="34" charset="-122"/>
                <a:cs typeface="Cambria" pitchFamily="34" charset="-120"/>
              </a:rPr>
              <a:t>but it should carry most of the load</a:t>
            </a:r>
            <a:endParaRPr lang="en-US" sz="3000" dirty="0"/>
          </a:p>
        </p:txBody>
      </p:sp>
      <p:sp>
        <p:nvSpPr>
          <p:cNvPr id="4" name="Shape 2"/>
          <p:cNvSpPr/>
          <p:nvPr/>
        </p:nvSpPr>
        <p:spPr>
          <a:xfrm>
            <a:off x="548640" y="1645920"/>
            <a:ext cx="11064240" cy="1554480"/>
          </a:xfrm>
          <a:prstGeom prst="roundRect">
            <a:avLst>
              <a:gd name="adj" fmla="val 5882"/>
            </a:avLst>
          </a:prstGeom>
          <a:solidFill>
            <a:srgbClr val="EEF3FE"/>
          </a:solidFill>
          <a:ln w="12700">
            <a:solidFill>
              <a:srgbClr val="CADCFC"/>
            </a:solidFill>
            <a:prstDash val="solid"/>
          </a:ln>
        </p:spPr>
      </p:sp>
      <p:pic>
        <p:nvPicPr>
          <p:cNvPr id="5" name="Image 0" descr="/home/claude/deck/assets/icons/hybrid.png">    </p:cNvPr>
          <p:cNvPicPr>
            <a:picLocks noChangeAspect="1"/>
          </p:cNvPicPr>
          <p:nvPr/>
        </p:nvPicPr>
        <p:blipFill>
          <a:blip r:embed="rId1"/>
          <a:stretch>
            <a:fillRect/>
          </a:stretch>
        </p:blipFill>
        <p:spPr>
          <a:xfrm>
            <a:off x="868680" y="2011680"/>
            <a:ext cx="548640" cy="548640"/>
          </a:xfrm>
          <a:prstGeom prst="rect">
            <a:avLst/>
          </a:prstGeom>
        </p:spPr>
      </p:pic>
      <p:sp>
        <p:nvSpPr>
          <p:cNvPr id="6" name="Text 3"/>
          <p:cNvSpPr/>
          <p:nvPr/>
        </p:nvSpPr>
        <p:spPr>
          <a:xfrm>
            <a:off x="1600200" y="1874520"/>
            <a:ext cx="548640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Recommended: Hybrid Architecture</a:t>
            </a:r>
            <a:endParaRPr lang="en-US" sz="1600" dirty="0"/>
          </a:p>
        </p:txBody>
      </p:sp>
      <p:sp>
        <p:nvSpPr>
          <p:cNvPr id="7" name="Text 4"/>
          <p:cNvSpPr/>
          <p:nvPr/>
        </p:nvSpPr>
        <p:spPr>
          <a:xfrm>
            <a:off x="1600200" y="2240280"/>
            <a:ext cx="8686800" cy="365760"/>
          </a:xfrm>
          <a:prstGeom prst="rect">
            <a:avLst/>
          </a:prstGeom>
          <a:noFill/>
          <a:ln/>
        </p:spPr>
        <p:txBody>
          <a:bodyPr wrap="square" lIns="0" tIns="0" rIns="0" bIns="0" rtlCol="0" anchor="ctr"/>
          <a:lstStyle/>
          <a:p>
            <a:pPr indent="0" marL="0">
              <a:buNone/>
            </a:pPr>
            <a:r>
              <a:rPr lang="en-US" sz="1200" i="1" dirty="0">
                <a:solidFill>
                  <a:srgbClr val="6C7599"/>
                </a:solidFill>
                <a:latin typeface="Calibri" pitchFamily="34" charset="0"/>
                <a:ea typeface="Calibri" pitchFamily="34" charset="-122"/>
                <a:cs typeface="Calibri" pitchFamily="34" charset="-120"/>
              </a:rPr>
              <a:t>Route by decision risk, not by default — let each model do what it's actually best at.</a:t>
            </a:r>
            <a:endParaRPr lang="en-US" sz="1200" dirty="0"/>
          </a:p>
        </p:txBody>
      </p:sp>
      <p:sp>
        <p:nvSpPr>
          <p:cNvPr id="8" name="Shape 5"/>
          <p:cNvSpPr/>
          <p:nvPr/>
        </p:nvSpPr>
        <p:spPr>
          <a:xfrm>
            <a:off x="1600200" y="2697480"/>
            <a:ext cx="4480560" cy="438912"/>
          </a:xfrm>
          <a:prstGeom prst="roundRect">
            <a:avLst>
              <a:gd name="adj" fmla="val 12500"/>
            </a:avLst>
          </a:prstGeom>
          <a:solidFill>
            <a:srgbClr val="1E2761"/>
          </a:solidFill>
          <a:ln/>
        </p:spPr>
      </p:sp>
      <p:sp>
        <p:nvSpPr>
          <p:cNvPr id="9" name="Text 6"/>
          <p:cNvSpPr/>
          <p:nvPr/>
        </p:nvSpPr>
        <p:spPr>
          <a:xfrm>
            <a:off x="1737360" y="2697480"/>
            <a:ext cx="4297680" cy="43891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GPT-5  —  Critical Reasoning</a:t>
            </a:r>
            <a:endParaRPr lang="en-US" sz="1150" dirty="0"/>
          </a:p>
        </p:txBody>
      </p:sp>
      <p:sp>
        <p:nvSpPr>
          <p:cNvPr id="10" name="Shape 7"/>
          <p:cNvSpPr/>
          <p:nvPr/>
        </p:nvSpPr>
        <p:spPr>
          <a:xfrm>
            <a:off x="6355080" y="2697480"/>
            <a:ext cx="4480560" cy="438912"/>
          </a:xfrm>
          <a:prstGeom prst="roundRect">
            <a:avLst>
              <a:gd name="adj" fmla="val 12500"/>
            </a:avLst>
          </a:prstGeom>
          <a:solidFill>
            <a:srgbClr val="1E2761"/>
          </a:solidFill>
          <a:ln/>
        </p:spPr>
      </p:sp>
      <p:sp>
        <p:nvSpPr>
          <p:cNvPr id="11" name="Text 8"/>
          <p:cNvSpPr/>
          <p:nvPr/>
        </p:nvSpPr>
        <p:spPr>
          <a:xfrm>
            <a:off x="6492240" y="2697480"/>
            <a:ext cx="4297680" cy="43891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Llama 3.3 70B  —  Routine Automation</a:t>
            </a:r>
            <a:endParaRPr lang="en-US" sz="1150" dirty="0"/>
          </a:p>
        </p:txBody>
      </p:sp>
      <p:sp>
        <p:nvSpPr>
          <p:cNvPr id="12" name="Shape 9"/>
          <p:cNvSpPr/>
          <p:nvPr/>
        </p:nvSpPr>
        <p:spPr>
          <a:xfrm>
            <a:off x="548640" y="3520440"/>
            <a:ext cx="5349240" cy="2286000"/>
          </a:xfrm>
          <a:prstGeom prst="roundRect">
            <a:avLst>
              <a:gd name="adj" fmla="val 4000"/>
            </a:avLst>
          </a:prstGeom>
          <a:solidFill>
            <a:srgbClr val="FFFFFF"/>
          </a:solidFill>
          <a:ln w="15875">
            <a:solidFill>
              <a:srgbClr val="CADCFC"/>
            </a:solidFill>
            <a:prstDash val="solid"/>
          </a:ln>
        </p:spPr>
      </p:sp>
      <p:pic>
        <p:nvPicPr>
          <p:cNvPr id="13" name="Image 1" descr="/home/claude/deck/assets/icons/gpt5.png">    </p:cNvPr>
          <p:cNvPicPr>
            <a:picLocks noChangeAspect="1"/>
          </p:cNvPicPr>
          <p:nvPr/>
        </p:nvPicPr>
        <p:blipFill>
          <a:blip r:embed="rId2"/>
          <a:stretch>
            <a:fillRect/>
          </a:stretch>
        </p:blipFill>
        <p:spPr>
          <a:xfrm>
            <a:off x="804672" y="3776472"/>
            <a:ext cx="347472" cy="347472"/>
          </a:xfrm>
          <a:prstGeom prst="rect">
            <a:avLst/>
          </a:prstGeom>
        </p:spPr>
      </p:pic>
      <p:sp>
        <p:nvSpPr>
          <p:cNvPr id="14" name="Shape 10"/>
          <p:cNvSpPr/>
          <p:nvPr/>
        </p:nvSpPr>
        <p:spPr>
          <a:xfrm>
            <a:off x="731520" y="3703320"/>
            <a:ext cx="502920" cy="502920"/>
          </a:xfrm>
          <a:prstGeom prst="ellipse">
            <a:avLst/>
          </a:prstGeom>
          <a:solidFill>
            <a:srgbClr val="1E2761"/>
          </a:solidFill>
          <a:ln/>
        </p:spPr>
      </p:sp>
      <p:pic>
        <p:nvPicPr>
          <p:cNvPr id="15" name="Image 2" descr="/home/claude/deck/assets/icons/gpt5.png">    </p:cNvPr>
          <p:cNvPicPr>
            <a:picLocks noChangeAspect="1"/>
          </p:cNvPicPr>
          <p:nvPr/>
        </p:nvPicPr>
        <p:blipFill>
          <a:blip r:embed="rId3"/>
          <a:stretch>
            <a:fillRect/>
          </a:stretch>
        </p:blipFill>
        <p:spPr>
          <a:xfrm>
            <a:off x="859536" y="3831336"/>
            <a:ext cx="246888" cy="246888"/>
          </a:xfrm>
          <a:prstGeom prst="rect">
            <a:avLst/>
          </a:prstGeom>
        </p:spPr>
      </p:pic>
      <p:sp>
        <p:nvSpPr>
          <p:cNvPr id="16" name="Text 11"/>
          <p:cNvSpPr/>
          <p:nvPr/>
        </p:nvSpPr>
        <p:spPr>
          <a:xfrm>
            <a:off x="1371600" y="3739896"/>
            <a:ext cx="4343400" cy="41148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Keep GPT-5 for…</a:t>
            </a:r>
            <a:endParaRPr lang="en-US" sz="1450" dirty="0"/>
          </a:p>
        </p:txBody>
      </p:sp>
      <p:sp>
        <p:nvSpPr>
          <p:cNvPr id="17" name="Shape 12"/>
          <p:cNvSpPr/>
          <p:nvPr/>
        </p:nvSpPr>
        <p:spPr>
          <a:xfrm>
            <a:off x="841248" y="4443984"/>
            <a:ext cx="82296" cy="82296"/>
          </a:xfrm>
          <a:prstGeom prst="ellipse">
            <a:avLst/>
          </a:prstGeom>
          <a:solidFill>
            <a:srgbClr val="F2A93B"/>
          </a:solidFill>
          <a:ln/>
        </p:spPr>
      </p:sp>
      <p:sp>
        <p:nvSpPr>
          <p:cNvPr id="18" name="Text 13"/>
          <p:cNvSpPr/>
          <p:nvPr/>
        </p:nvSpPr>
        <p:spPr>
          <a:xfrm>
            <a:off x="1051560" y="4315968"/>
            <a:ext cx="4572000" cy="384048"/>
          </a:xfrm>
          <a:prstGeom prst="rect">
            <a:avLst/>
          </a:prstGeom>
          <a:noFill/>
          <a:ln/>
        </p:spPr>
        <p:txBody>
          <a:bodyPr wrap="square" lIns="0" tIns="0" rIns="0" bIns="0" rtlCol="0" anchor="ctr"/>
          <a:lstStyle/>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Highest observed reasoning accuracy</a:t>
            </a:r>
            <a:endParaRPr lang="en-US" sz="1150" dirty="0"/>
          </a:p>
        </p:txBody>
      </p:sp>
      <p:sp>
        <p:nvSpPr>
          <p:cNvPr id="19" name="Shape 14"/>
          <p:cNvSpPr/>
          <p:nvPr/>
        </p:nvSpPr>
        <p:spPr>
          <a:xfrm>
            <a:off x="841248" y="4901184"/>
            <a:ext cx="82296" cy="82296"/>
          </a:xfrm>
          <a:prstGeom prst="ellipse">
            <a:avLst/>
          </a:prstGeom>
          <a:solidFill>
            <a:srgbClr val="F2A93B"/>
          </a:solidFill>
          <a:ln/>
        </p:spPr>
      </p:sp>
      <p:sp>
        <p:nvSpPr>
          <p:cNvPr id="20" name="Text 15"/>
          <p:cNvSpPr/>
          <p:nvPr/>
        </p:nvSpPr>
        <p:spPr>
          <a:xfrm>
            <a:off x="1051560" y="4773168"/>
            <a:ext cx="4572000" cy="384048"/>
          </a:xfrm>
          <a:prstGeom prst="rect">
            <a:avLst/>
          </a:prstGeom>
          <a:noFill/>
          <a:ln/>
        </p:spPr>
        <p:txBody>
          <a:bodyPr wrap="square" lIns="0" tIns="0" rIns="0" bIns="0" rtlCol="0" anchor="ctr"/>
          <a:lstStyle/>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Most reliable production safety net</a:t>
            </a:r>
            <a:endParaRPr lang="en-US" sz="1150" dirty="0"/>
          </a:p>
        </p:txBody>
      </p:sp>
      <p:sp>
        <p:nvSpPr>
          <p:cNvPr id="21" name="Shape 16"/>
          <p:cNvSpPr/>
          <p:nvPr/>
        </p:nvSpPr>
        <p:spPr>
          <a:xfrm>
            <a:off x="841248" y="5358384"/>
            <a:ext cx="82296" cy="82296"/>
          </a:xfrm>
          <a:prstGeom prst="ellipse">
            <a:avLst/>
          </a:prstGeom>
          <a:solidFill>
            <a:srgbClr val="F2A93B"/>
          </a:solidFill>
          <a:ln/>
        </p:spPr>
      </p:sp>
      <p:sp>
        <p:nvSpPr>
          <p:cNvPr id="22" name="Text 17"/>
          <p:cNvSpPr/>
          <p:nvPr/>
        </p:nvSpPr>
        <p:spPr>
          <a:xfrm>
            <a:off x="1051560" y="5230368"/>
            <a:ext cx="4572000" cy="384048"/>
          </a:xfrm>
          <a:prstGeom prst="rect">
            <a:avLst/>
          </a:prstGeom>
          <a:noFill/>
          <a:ln/>
        </p:spPr>
        <p:txBody>
          <a:bodyPr wrap="square" lIns="0" tIns="0" rIns="0" bIns="0" rtlCol="0" anchor="ctr"/>
          <a:lstStyle/>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Best error recovery under novel failures</a:t>
            </a:r>
            <a:endParaRPr lang="en-US" sz="1150" dirty="0"/>
          </a:p>
        </p:txBody>
      </p:sp>
      <p:sp>
        <p:nvSpPr>
          <p:cNvPr id="23" name="Shape 18"/>
          <p:cNvSpPr/>
          <p:nvPr/>
        </p:nvSpPr>
        <p:spPr>
          <a:xfrm>
            <a:off x="6217920" y="3520440"/>
            <a:ext cx="5349240" cy="2286000"/>
          </a:xfrm>
          <a:prstGeom prst="roundRect">
            <a:avLst>
              <a:gd name="adj" fmla="val 4000"/>
            </a:avLst>
          </a:prstGeom>
          <a:solidFill>
            <a:srgbClr val="FFFFFF"/>
          </a:solidFill>
          <a:ln w="15875">
            <a:solidFill>
              <a:srgbClr val="CADCFC"/>
            </a:solidFill>
            <a:prstDash val="solid"/>
          </a:ln>
        </p:spPr>
      </p:sp>
      <p:pic>
        <p:nvPicPr>
          <p:cNvPr id="24" name="Image 3" descr="/home/claude/deck/assets/icons/llama.png">    </p:cNvPr>
          <p:cNvPicPr>
            <a:picLocks noChangeAspect="1"/>
          </p:cNvPicPr>
          <p:nvPr/>
        </p:nvPicPr>
        <p:blipFill>
          <a:blip r:embed="rId4"/>
          <a:stretch>
            <a:fillRect/>
          </a:stretch>
        </p:blipFill>
        <p:spPr>
          <a:xfrm>
            <a:off x="6473952" y="3776472"/>
            <a:ext cx="347472" cy="347472"/>
          </a:xfrm>
          <a:prstGeom prst="rect">
            <a:avLst/>
          </a:prstGeom>
        </p:spPr>
      </p:pic>
      <p:sp>
        <p:nvSpPr>
          <p:cNvPr id="25" name="Shape 19"/>
          <p:cNvSpPr/>
          <p:nvPr/>
        </p:nvSpPr>
        <p:spPr>
          <a:xfrm>
            <a:off x="6400800" y="3703320"/>
            <a:ext cx="502920" cy="502920"/>
          </a:xfrm>
          <a:prstGeom prst="ellipse">
            <a:avLst/>
          </a:prstGeom>
          <a:solidFill>
            <a:srgbClr val="1E2761"/>
          </a:solidFill>
          <a:ln/>
        </p:spPr>
      </p:sp>
      <p:pic>
        <p:nvPicPr>
          <p:cNvPr id="26" name="Image 4" descr="/home/claude/deck/assets/icons/llama.png">    </p:cNvPr>
          <p:cNvPicPr>
            <a:picLocks noChangeAspect="1"/>
          </p:cNvPicPr>
          <p:nvPr/>
        </p:nvPicPr>
        <p:blipFill>
          <a:blip r:embed="rId5"/>
          <a:stretch>
            <a:fillRect/>
          </a:stretch>
        </p:blipFill>
        <p:spPr>
          <a:xfrm>
            <a:off x="6528816" y="3831336"/>
            <a:ext cx="246888" cy="246888"/>
          </a:xfrm>
          <a:prstGeom prst="rect">
            <a:avLst/>
          </a:prstGeom>
        </p:spPr>
      </p:pic>
      <p:sp>
        <p:nvSpPr>
          <p:cNvPr id="27" name="Text 20"/>
          <p:cNvSpPr/>
          <p:nvPr/>
        </p:nvSpPr>
        <p:spPr>
          <a:xfrm>
            <a:off x="7040880" y="3739896"/>
            <a:ext cx="4343400" cy="41148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Shift to Llama 3.3 for…</a:t>
            </a:r>
            <a:endParaRPr lang="en-US" sz="1450" dirty="0"/>
          </a:p>
        </p:txBody>
      </p:sp>
      <p:sp>
        <p:nvSpPr>
          <p:cNvPr id="28" name="Shape 21"/>
          <p:cNvSpPr/>
          <p:nvPr/>
        </p:nvSpPr>
        <p:spPr>
          <a:xfrm>
            <a:off x="6510528" y="4443984"/>
            <a:ext cx="82296" cy="82296"/>
          </a:xfrm>
          <a:prstGeom prst="ellipse">
            <a:avLst/>
          </a:prstGeom>
          <a:solidFill>
            <a:srgbClr val="F2A93B"/>
          </a:solidFill>
          <a:ln/>
        </p:spPr>
      </p:sp>
      <p:sp>
        <p:nvSpPr>
          <p:cNvPr id="29" name="Text 22"/>
          <p:cNvSpPr/>
          <p:nvPr/>
        </p:nvSpPr>
        <p:spPr>
          <a:xfrm>
            <a:off x="6720840" y="4315968"/>
            <a:ext cx="4572000" cy="384048"/>
          </a:xfrm>
          <a:prstGeom prst="rect">
            <a:avLst/>
          </a:prstGeom>
          <a:noFill/>
          <a:ln/>
        </p:spPr>
        <p:txBody>
          <a:bodyPr wrap="square" lIns="0" tIns="0" rIns="0" bIns="0" rtlCol="0" anchor="ctr"/>
          <a:lstStyle/>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Lower cost at high shipment volume</a:t>
            </a:r>
            <a:endParaRPr lang="en-US" sz="1150" dirty="0"/>
          </a:p>
        </p:txBody>
      </p:sp>
      <p:sp>
        <p:nvSpPr>
          <p:cNvPr id="30" name="Shape 23"/>
          <p:cNvSpPr/>
          <p:nvPr/>
        </p:nvSpPr>
        <p:spPr>
          <a:xfrm>
            <a:off x="6510528" y="4901184"/>
            <a:ext cx="82296" cy="82296"/>
          </a:xfrm>
          <a:prstGeom prst="ellipse">
            <a:avLst/>
          </a:prstGeom>
          <a:solidFill>
            <a:srgbClr val="F2A93B"/>
          </a:solidFill>
          <a:ln/>
        </p:spPr>
      </p:sp>
      <p:sp>
        <p:nvSpPr>
          <p:cNvPr id="31" name="Text 24"/>
          <p:cNvSpPr/>
          <p:nvPr/>
        </p:nvSpPr>
        <p:spPr>
          <a:xfrm>
            <a:off x="6720840" y="4773168"/>
            <a:ext cx="4572000" cy="384048"/>
          </a:xfrm>
          <a:prstGeom prst="rect">
            <a:avLst/>
          </a:prstGeom>
          <a:noFill/>
          <a:ln/>
        </p:spPr>
        <p:txBody>
          <a:bodyPr wrap="square" lIns="0" tIns="0" rIns="0" bIns="0" rtlCol="0" anchor="ctr"/>
          <a:lstStyle/>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Full data privacy — self-hosted, in-VPC</a:t>
            </a:r>
            <a:endParaRPr lang="en-US" sz="1150" dirty="0"/>
          </a:p>
        </p:txBody>
      </p:sp>
      <p:sp>
        <p:nvSpPr>
          <p:cNvPr id="32" name="Shape 25"/>
          <p:cNvSpPr/>
          <p:nvPr/>
        </p:nvSpPr>
        <p:spPr>
          <a:xfrm>
            <a:off x="6510528" y="5358384"/>
            <a:ext cx="82296" cy="82296"/>
          </a:xfrm>
          <a:prstGeom prst="ellipse">
            <a:avLst/>
          </a:prstGeom>
          <a:solidFill>
            <a:srgbClr val="F2A93B"/>
          </a:solidFill>
          <a:ln/>
        </p:spPr>
      </p:sp>
      <p:sp>
        <p:nvSpPr>
          <p:cNvPr id="33" name="Text 26"/>
          <p:cNvSpPr/>
          <p:nvPr/>
        </p:nvSpPr>
        <p:spPr>
          <a:xfrm>
            <a:off x="6720840" y="5230368"/>
            <a:ext cx="4572000" cy="384048"/>
          </a:xfrm>
          <a:prstGeom prst="rect">
            <a:avLst/>
          </a:prstGeom>
          <a:noFill/>
          <a:ln/>
        </p:spPr>
        <p:txBody>
          <a:bodyPr wrap="square" lIns="0" tIns="0" rIns="0" bIns="0" rtlCol="0" anchor="ctr"/>
          <a:lstStyle/>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Fine-tunable to carrier-specific patterns</a:t>
            </a:r>
            <a:endParaRPr lang="en-US" sz="1150" dirty="0"/>
          </a:p>
        </p:txBody>
      </p:sp>
      <p:sp>
        <p:nvSpPr>
          <p:cNvPr id="34" name="Text 27"/>
          <p:cNvSpPr/>
          <p:nvPr/>
        </p:nvSpPr>
        <p:spPr>
          <a:xfrm>
            <a:off x="457200" y="6547104"/>
            <a:ext cx="8229600" cy="256032"/>
          </a:xfrm>
          <a:prstGeom prst="rect">
            <a:avLst/>
          </a:prstGeom>
          <a:noFill/>
          <a:ln/>
        </p:spPr>
        <p:txBody>
          <a:bodyPr wrap="square" lIns="0" tIns="0" rIns="0" bIns="0" rtlCol="0" anchor="ctr"/>
          <a:lstStyle/>
          <a:p>
            <a:pPr indent="0" marL="0">
              <a:buNone/>
            </a:pPr>
            <a:r>
              <a:rPr lang="en-US" sz="850" spc="100" kern="0" dirty="0">
                <a:solidFill>
                  <a:srgbClr val="6C7599"/>
                </a:solidFill>
                <a:latin typeface="Calibri" pitchFamily="34" charset="0"/>
                <a:ea typeface="Calibri" pitchFamily="34" charset="-122"/>
                <a:cs typeface="Calibri" pitchFamily="34" charset="-120"/>
              </a:rPr>
              <a:t>AUTONOMOUS LOGISTICS REROUTING  |  AI RESEARCHER ASSESSMENT</a:t>
            </a:r>
            <a:endParaRPr lang="en-US" sz="850" dirty="0"/>
          </a:p>
        </p:txBody>
      </p:sp>
      <p:sp>
        <p:nvSpPr>
          <p:cNvPr id="35" name="Text 28"/>
          <p:cNvSpPr/>
          <p:nvPr/>
        </p:nvSpPr>
        <p:spPr>
          <a:xfrm>
            <a:off x="11430000" y="6547104"/>
            <a:ext cx="365760" cy="256032"/>
          </a:xfrm>
          <a:prstGeom prst="rect">
            <a:avLst/>
          </a:prstGeom>
          <a:noFill/>
          <a:ln/>
        </p:spPr>
        <p:txBody>
          <a:bodyPr wrap="square" lIns="0" tIns="0" rIns="0" bIns="0" rtlCol="0" anchor="ctr"/>
          <a:lstStyle/>
          <a:p>
            <a:pPr algn="r" indent="0" marL="0">
              <a:buNone/>
            </a:pPr>
            <a:r>
              <a:rPr lang="en-US" sz="850" dirty="0">
                <a:solidFill>
                  <a:srgbClr val="6C7599"/>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50" b="1" spc="200" kern="0" dirty="0">
                <a:solidFill>
                  <a:srgbClr val="F2A93B"/>
                </a:solidFill>
                <a:latin typeface="Calibri" pitchFamily="34" charset="0"/>
                <a:ea typeface="Calibri" pitchFamily="34" charset="-122"/>
                <a:cs typeface="Calibri" pitchFamily="34" charset="-120"/>
              </a:rPr>
              <a:t>LOOKING AHEAD</a:t>
            </a:r>
            <a:endParaRPr lang="en-US" sz="125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Where this system goes next</a:t>
            </a:r>
            <a:endParaRPr lang="en-US" sz="3000" dirty="0"/>
          </a:p>
        </p:txBody>
      </p:sp>
      <p:sp>
        <p:nvSpPr>
          <p:cNvPr id="4" name="Shape 2"/>
          <p:cNvSpPr/>
          <p:nvPr/>
        </p:nvSpPr>
        <p:spPr>
          <a:xfrm>
            <a:off x="548640" y="1828800"/>
            <a:ext cx="3520440" cy="4023360"/>
          </a:xfrm>
          <a:prstGeom prst="roundRect">
            <a:avLst>
              <a:gd name="adj" fmla="val 2597"/>
            </a:avLst>
          </a:prstGeom>
          <a:solidFill>
            <a:srgbClr val="EEF3FE"/>
          </a:solidFill>
          <a:ln w="12700">
            <a:solidFill>
              <a:srgbClr val="CADCFC"/>
            </a:solidFill>
            <a:prstDash val="solid"/>
          </a:ln>
        </p:spPr>
      </p:sp>
      <p:sp>
        <p:nvSpPr>
          <p:cNvPr id="5" name="Shape 3"/>
          <p:cNvSpPr/>
          <p:nvPr/>
        </p:nvSpPr>
        <p:spPr>
          <a:xfrm>
            <a:off x="868680" y="2148840"/>
            <a:ext cx="731520" cy="731520"/>
          </a:xfrm>
          <a:prstGeom prst="ellipse">
            <a:avLst/>
          </a:prstGeom>
          <a:solidFill>
            <a:srgbClr val="1E2761"/>
          </a:solidFill>
          <a:ln/>
        </p:spPr>
      </p:sp>
      <p:pic>
        <p:nvPicPr>
          <p:cNvPr id="6" name="Image 0" descr="/home/claude/deck/assets/icons/future1.png">    </p:cNvPr>
          <p:cNvPicPr>
            <a:picLocks noChangeAspect="1"/>
          </p:cNvPicPr>
          <p:nvPr/>
        </p:nvPicPr>
        <p:blipFill>
          <a:blip r:embed="rId1"/>
          <a:stretch>
            <a:fillRect/>
          </a:stretch>
        </p:blipFill>
        <p:spPr>
          <a:xfrm>
            <a:off x="1051560" y="2331720"/>
            <a:ext cx="365760" cy="365760"/>
          </a:xfrm>
          <a:prstGeom prst="rect">
            <a:avLst/>
          </a:prstGeom>
        </p:spPr>
      </p:pic>
      <p:sp>
        <p:nvSpPr>
          <p:cNvPr id="7" name="Text 4"/>
          <p:cNvSpPr/>
          <p:nvPr/>
        </p:nvSpPr>
        <p:spPr>
          <a:xfrm>
            <a:off x="868680" y="3017520"/>
            <a:ext cx="2880360" cy="274320"/>
          </a:xfrm>
          <a:prstGeom prst="rect">
            <a:avLst/>
          </a:prstGeom>
          <a:noFill/>
          <a:ln/>
        </p:spPr>
        <p:txBody>
          <a:bodyPr wrap="square" lIns="0" tIns="0" rIns="0" bIns="0" rtlCol="0" anchor="ctr"/>
          <a:lstStyle/>
          <a:p>
            <a:pPr indent="0" marL="0">
              <a:buNone/>
            </a:pPr>
            <a:r>
              <a:rPr lang="en-US" sz="1050" b="1" spc="150" kern="0" dirty="0">
                <a:solidFill>
                  <a:srgbClr val="F2A93B"/>
                </a:solidFill>
                <a:latin typeface="Calibri" pitchFamily="34" charset="0"/>
                <a:ea typeface="Calibri" pitchFamily="34" charset="-122"/>
                <a:cs typeface="Calibri" pitchFamily="34" charset="-120"/>
              </a:rPr>
              <a:t>PHASE 1</a:t>
            </a:r>
            <a:endParaRPr lang="en-US" sz="1050" dirty="0"/>
          </a:p>
        </p:txBody>
      </p:sp>
      <p:sp>
        <p:nvSpPr>
          <p:cNvPr id="8" name="Text 5"/>
          <p:cNvSpPr/>
          <p:nvPr/>
        </p:nvSpPr>
        <p:spPr>
          <a:xfrm>
            <a:off x="868680" y="3291840"/>
            <a:ext cx="2880360" cy="685800"/>
          </a:xfrm>
          <a:prstGeom prst="rect">
            <a:avLst/>
          </a:prstGeom>
          <a:noFill/>
          <a:ln/>
        </p:spPr>
        <p:txBody>
          <a:bodyPr wrap="square" lIns="0" tIns="0" rIns="0" bIns="0" rtlCol="0" anchor="ctr"/>
          <a:lstStyle/>
          <a:p>
            <a:pPr indent="0" marL="0">
              <a:lnSpc>
                <a:spcPct val="108000"/>
              </a:lnSpc>
              <a:buNone/>
            </a:pPr>
            <a:r>
              <a:rPr lang="en-US" sz="1500" b="1" dirty="0">
                <a:solidFill>
                  <a:srgbClr val="1E2761"/>
                </a:solidFill>
                <a:latin typeface="Cambria" pitchFamily="34" charset="0"/>
                <a:ea typeface="Cambria" pitchFamily="34" charset="-122"/>
                <a:cs typeface="Cambria" pitchFamily="34" charset="-120"/>
              </a:rPr>
              <a:t>Confidence-Based Routing</a:t>
            </a:r>
            <a:endParaRPr lang="en-US" sz="1500" dirty="0"/>
          </a:p>
        </p:txBody>
      </p:sp>
      <p:sp>
        <p:nvSpPr>
          <p:cNvPr id="9" name="Text 6"/>
          <p:cNvSpPr/>
          <p:nvPr/>
        </p:nvSpPr>
        <p:spPr>
          <a:xfrm>
            <a:off x="868680" y="4023360"/>
            <a:ext cx="2880360" cy="1691640"/>
          </a:xfrm>
          <a:prstGeom prst="rect">
            <a:avLst/>
          </a:prstGeom>
          <a:noFill/>
          <a:ln/>
        </p:spPr>
        <p:txBody>
          <a:bodyPr wrap="square" lIns="0" tIns="0" rIns="0" bIns="0" rtlCol="0" anchor="ctr"/>
          <a:lstStyle/>
          <a:p>
            <a:pPr indent="0" marL="0">
              <a:lnSpc>
                <a:spcPct val="130000"/>
              </a:lnSpc>
              <a:buNone/>
            </a:pPr>
            <a:r>
              <a:rPr lang="en-US" sz="1150" dirty="0">
                <a:solidFill>
                  <a:srgbClr val="6C7599"/>
                </a:solidFill>
                <a:latin typeface="Calibri" pitchFamily="34" charset="0"/>
                <a:ea typeface="Calibri" pitchFamily="34" charset="-122"/>
                <a:cs typeface="Calibri" pitchFamily="34" charset="-120"/>
              </a:rPr>
              <a:t>Ship the hybrid router with a calibrated confidence score deciding GPT-5 vs. Llama per request.</a:t>
            </a:r>
            <a:endParaRPr lang="en-US" sz="1150" dirty="0"/>
          </a:p>
        </p:txBody>
      </p:sp>
      <p:sp>
        <p:nvSpPr>
          <p:cNvPr id="10" name="Shape 7"/>
          <p:cNvSpPr/>
          <p:nvPr/>
        </p:nvSpPr>
        <p:spPr>
          <a:xfrm>
            <a:off x="4123944" y="3840480"/>
            <a:ext cx="210312" cy="0"/>
          </a:xfrm>
          <a:prstGeom prst="line">
            <a:avLst/>
          </a:prstGeom>
          <a:noFill/>
          <a:ln w="25400">
            <a:solidFill>
              <a:srgbClr val="CADCFC"/>
            </a:solidFill>
            <a:prstDash val="solid"/>
            <a:tailEnd type="triangle"/>
          </a:ln>
        </p:spPr>
      </p:sp>
      <p:sp>
        <p:nvSpPr>
          <p:cNvPr id="11" name="Shape 8"/>
          <p:cNvSpPr/>
          <p:nvPr/>
        </p:nvSpPr>
        <p:spPr>
          <a:xfrm>
            <a:off x="4389120" y="1828800"/>
            <a:ext cx="3520440" cy="4023360"/>
          </a:xfrm>
          <a:prstGeom prst="roundRect">
            <a:avLst>
              <a:gd name="adj" fmla="val 2597"/>
            </a:avLst>
          </a:prstGeom>
          <a:solidFill>
            <a:srgbClr val="1E2761"/>
          </a:solidFill>
          <a:ln w="12700">
            <a:solidFill>
              <a:srgbClr val="1E2761"/>
            </a:solidFill>
            <a:prstDash val="solid"/>
          </a:ln>
        </p:spPr>
      </p:sp>
      <p:sp>
        <p:nvSpPr>
          <p:cNvPr id="12" name="Shape 9"/>
          <p:cNvSpPr/>
          <p:nvPr/>
        </p:nvSpPr>
        <p:spPr>
          <a:xfrm>
            <a:off x="4709160" y="2148840"/>
            <a:ext cx="731520" cy="731520"/>
          </a:xfrm>
          <a:prstGeom prst="ellipse">
            <a:avLst/>
          </a:prstGeom>
          <a:solidFill>
            <a:srgbClr val="F2A93B"/>
          </a:solidFill>
          <a:ln/>
        </p:spPr>
      </p:sp>
      <p:pic>
        <p:nvPicPr>
          <p:cNvPr id="13" name="Image 1" descr="/home/claude/deck/assets/icons/future2.png">    </p:cNvPr>
          <p:cNvPicPr>
            <a:picLocks noChangeAspect="1"/>
          </p:cNvPicPr>
          <p:nvPr/>
        </p:nvPicPr>
        <p:blipFill>
          <a:blip r:embed="rId2"/>
          <a:stretch>
            <a:fillRect/>
          </a:stretch>
        </p:blipFill>
        <p:spPr>
          <a:xfrm>
            <a:off x="4892040" y="2331720"/>
            <a:ext cx="365760" cy="365760"/>
          </a:xfrm>
          <a:prstGeom prst="rect">
            <a:avLst/>
          </a:prstGeom>
        </p:spPr>
      </p:pic>
      <p:sp>
        <p:nvSpPr>
          <p:cNvPr id="14" name="Text 10"/>
          <p:cNvSpPr/>
          <p:nvPr/>
        </p:nvSpPr>
        <p:spPr>
          <a:xfrm>
            <a:off x="4709160" y="3017520"/>
            <a:ext cx="2880360" cy="274320"/>
          </a:xfrm>
          <a:prstGeom prst="rect">
            <a:avLst/>
          </a:prstGeom>
          <a:noFill/>
          <a:ln/>
        </p:spPr>
        <p:txBody>
          <a:bodyPr wrap="square" lIns="0" tIns="0" rIns="0" bIns="0" rtlCol="0" anchor="ctr"/>
          <a:lstStyle/>
          <a:p>
            <a:pPr indent="0" marL="0">
              <a:buNone/>
            </a:pPr>
            <a:r>
              <a:rPr lang="en-US" sz="1050" b="1" spc="150" kern="0" dirty="0">
                <a:solidFill>
                  <a:srgbClr val="F2A93B"/>
                </a:solidFill>
                <a:latin typeface="Calibri" pitchFamily="34" charset="0"/>
                <a:ea typeface="Calibri" pitchFamily="34" charset="-122"/>
                <a:cs typeface="Calibri" pitchFamily="34" charset="-120"/>
              </a:rPr>
              <a:t>PHASE 2</a:t>
            </a:r>
            <a:endParaRPr lang="en-US" sz="1050" dirty="0"/>
          </a:p>
        </p:txBody>
      </p:sp>
      <p:sp>
        <p:nvSpPr>
          <p:cNvPr id="15" name="Text 11"/>
          <p:cNvSpPr/>
          <p:nvPr/>
        </p:nvSpPr>
        <p:spPr>
          <a:xfrm>
            <a:off x="4709160" y="3291840"/>
            <a:ext cx="2880360" cy="685800"/>
          </a:xfrm>
          <a:prstGeom prst="rect">
            <a:avLst/>
          </a:prstGeom>
          <a:noFill/>
          <a:ln/>
        </p:spPr>
        <p:txBody>
          <a:bodyPr wrap="square" lIns="0" tIns="0" rIns="0" bIns="0" rtlCol="0" anchor="ctr"/>
          <a:lstStyle/>
          <a:p>
            <a:pPr indent="0" marL="0">
              <a:lnSpc>
                <a:spcPct val="108000"/>
              </a:lnSpc>
              <a:buNone/>
            </a:pPr>
            <a:r>
              <a:rPr lang="en-US" sz="1500" b="1" dirty="0">
                <a:solidFill>
                  <a:srgbClr val="FFFFFF"/>
                </a:solidFill>
                <a:latin typeface="Cambria" pitchFamily="34" charset="0"/>
                <a:ea typeface="Cambria" pitchFamily="34" charset="-122"/>
                <a:cs typeface="Cambria" pitchFamily="34" charset="-120"/>
              </a:rPr>
              <a:t>Human-in-the-Loop Guardrails</a:t>
            </a:r>
            <a:endParaRPr lang="en-US" sz="1500" dirty="0"/>
          </a:p>
        </p:txBody>
      </p:sp>
      <p:sp>
        <p:nvSpPr>
          <p:cNvPr id="16" name="Text 12"/>
          <p:cNvSpPr/>
          <p:nvPr/>
        </p:nvSpPr>
        <p:spPr>
          <a:xfrm>
            <a:off x="4709160" y="4023360"/>
            <a:ext cx="2880360" cy="1691640"/>
          </a:xfrm>
          <a:prstGeom prst="rect">
            <a:avLst/>
          </a:prstGeom>
          <a:noFill/>
          <a:ln/>
        </p:spPr>
        <p:txBody>
          <a:bodyPr wrap="square" lIns="0" tIns="0" rIns="0" bIns="0" rtlCol="0" anchor="ctr"/>
          <a:lstStyle/>
          <a:p>
            <a:pPr indent="0" marL="0">
              <a:lnSpc>
                <a:spcPct val="130000"/>
              </a:lnSpc>
              <a:buNone/>
            </a:pPr>
            <a:r>
              <a:rPr lang="en-US" sz="1150" dirty="0">
                <a:solidFill>
                  <a:srgbClr val="CADCFC"/>
                </a:solidFill>
                <a:latin typeface="Calibri" pitchFamily="34" charset="0"/>
                <a:ea typeface="Calibri" pitchFamily="34" charset="-122"/>
                <a:cs typeface="Calibri" pitchFamily="34" charset="-120"/>
              </a:rPr>
              <a:t>Add approval gates for high-value reroutes and full audit logging for compliance review.</a:t>
            </a:r>
            <a:endParaRPr lang="en-US" sz="1150" dirty="0"/>
          </a:p>
        </p:txBody>
      </p:sp>
      <p:sp>
        <p:nvSpPr>
          <p:cNvPr id="17" name="Shape 13"/>
          <p:cNvSpPr/>
          <p:nvPr/>
        </p:nvSpPr>
        <p:spPr>
          <a:xfrm>
            <a:off x="7964424" y="3840480"/>
            <a:ext cx="210312" cy="0"/>
          </a:xfrm>
          <a:prstGeom prst="line">
            <a:avLst/>
          </a:prstGeom>
          <a:noFill/>
          <a:ln w="25400">
            <a:solidFill>
              <a:srgbClr val="CADCFC"/>
            </a:solidFill>
            <a:prstDash val="solid"/>
            <a:tailEnd type="triangle"/>
          </a:ln>
        </p:spPr>
      </p:sp>
      <p:sp>
        <p:nvSpPr>
          <p:cNvPr id="18" name="Shape 14"/>
          <p:cNvSpPr/>
          <p:nvPr/>
        </p:nvSpPr>
        <p:spPr>
          <a:xfrm>
            <a:off x="8229600" y="1828800"/>
            <a:ext cx="3520440" cy="4023360"/>
          </a:xfrm>
          <a:prstGeom prst="roundRect">
            <a:avLst>
              <a:gd name="adj" fmla="val 2597"/>
            </a:avLst>
          </a:prstGeom>
          <a:solidFill>
            <a:srgbClr val="EEF3FE"/>
          </a:solidFill>
          <a:ln w="12700">
            <a:solidFill>
              <a:srgbClr val="CADCFC"/>
            </a:solidFill>
            <a:prstDash val="solid"/>
          </a:ln>
        </p:spPr>
      </p:sp>
      <p:sp>
        <p:nvSpPr>
          <p:cNvPr id="19" name="Shape 15"/>
          <p:cNvSpPr/>
          <p:nvPr/>
        </p:nvSpPr>
        <p:spPr>
          <a:xfrm>
            <a:off x="8549640" y="2148840"/>
            <a:ext cx="731520" cy="731520"/>
          </a:xfrm>
          <a:prstGeom prst="ellipse">
            <a:avLst/>
          </a:prstGeom>
          <a:solidFill>
            <a:srgbClr val="1E2761"/>
          </a:solidFill>
          <a:ln/>
        </p:spPr>
      </p:sp>
      <p:pic>
        <p:nvPicPr>
          <p:cNvPr id="20" name="Image 2" descr="/home/claude/deck/assets/icons/future3.png">    </p:cNvPr>
          <p:cNvPicPr>
            <a:picLocks noChangeAspect="1"/>
          </p:cNvPicPr>
          <p:nvPr/>
        </p:nvPicPr>
        <p:blipFill>
          <a:blip r:embed="rId3"/>
          <a:stretch>
            <a:fillRect/>
          </a:stretch>
        </p:blipFill>
        <p:spPr>
          <a:xfrm>
            <a:off x="8732520" y="2331720"/>
            <a:ext cx="365760" cy="365760"/>
          </a:xfrm>
          <a:prstGeom prst="rect">
            <a:avLst/>
          </a:prstGeom>
        </p:spPr>
      </p:pic>
      <p:sp>
        <p:nvSpPr>
          <p:cNvPr id="21" name="Text 16"/>
          <p:cNvSpPr/>
          <p:nvPr/>
        </p:nvSpPr>
        <p:spPr>
          <a:xfrm>
            <a:off x="8549640" y="3017520"/>
            <a:ext cx="2880360" cy="274320"/>
          </a:xfrm>
          <a:prstGeom prst="rect">
            <a:avLst/>
          </a:prstGeom>
          <a:noFill/>
          <a:ln/>
        </p:spPr>
        <p:txBody>
          <a:bodyPr wrap="square" lIns="0" tIns="0" rIns="0" bIns="0" rtlCol="0" anchor="ctr"/>
          <a:lstStyle/>
          <a:p>
            <a:pPr indent="0" marL="0">
              <a:buNone/>
            </a:pPr>
            <a:r>
              <a:rPr lang="en-US" sz="1050" b="1" spc="150" kern="0" dirty="0">
                <a:solidFill>
                  <a:srgbClr val="F2A93B"/>
                </a:solidFill>
                <a:latin typeface="Calibri" pitchFamily="34" charset="0"/>
                <a:ea typeface="Calibri" pitchFamily="34" charset="-122"/>
                <a:cs typeface="Calibri" pitchFamily="34" charset="-120"/>
              </a:rPr>
              <a:t>PHASE 3</a:t>
            </a:r>
            <a:endParaRPr lang="en-US" sz="1050" dirty="0"/>
          </a:p>
        </p:txBody>
      </p:sp>
      <p:sp>
        <p:nvSpPr>
          <p:cNvPr id="22" name="Text 17"/>
          <p:cNvSpPr/>
          <p:nvPr/>
        </p:nvSpPr>
        <p:spPr>
          <a:xfrm>
            <a:off x="8549640" y="3291840"/>
            <a:ext cx="2880360" cy="685800"/>
          </a:xfrm>
          <a:prstGeom prst="rect">
            <a:avLst/>
          </a:prstGeom>
          <a:noFill/>
          <a:ln/>
        </p:spPr>
        <p:txBody>
          <a:bodyPr wrap="square" lIns="0" tIns="0" rIns="0" bIns="0" rtlCol="0" anchor="ctr"/>
          <a:lstStyle/>
          <a:p>
            <a:pPr indent="0" marL="0">
              <a:lnSpc>
                <a:spcPct val="108000"/>
              </a:lnSpc>
              <a:buNone/>
            </a:pPr>
            <a:r>
              <a:rPr lang="en-US" sz="1500" b="1" dirty="0">
                <a:solidFill>
                  <a:srgbClr val="1E2761"/>
                </a:solidFill>
                <a:latin typeface="Cambria" pitchFamily="34" charset="0"/>
                <a:ea typeface="Cambria" pitchFamily="34" charset="-122"/>
                <a:cs typeface="Cambria" pitchFamily="34" charset="-120"/>
              </a:rPr>
              <a:t>Fine-Tuned Llama &amp; Cost Optimization</a:t>
            </a:r>
            <a:endParaRPr lang="en-US" sz="1500" dirty="0"/>
          </a:p>
        </p:txBody>
      </p:sp>
      <p:sp>
        <p:nvSpPr>
          <p:cNvPr id="23" name="Text 18"/>
          <p:cNvSpPr/>
          <p:nvPr/>
        </p:nvSpPr>
        <p:spPr>
          <a:xfrm>
            <a:off x="8549640" y="4023360"/>
            <a:ext cx="2880360" cy="1691640"/>
          </a:xfrm>
          <a:prstGeom prst="rect">
            <a:avLst/>
          </a:prstGeom>
          <a:noFill/>
          <a:ln/>
        </p:spPr>
        <p:txBody>
          <a:bodyPr wrap="square" lIns="0" tIns="0" rIns="0" bIns="0" rtlCol="0" anchor="ctr"/>
          <a:lstStyle/>
          <a:p>
            <a:pPr indent="0" marL="0">
              <a:lnSpc>
                <a:spcPct val="130000"/>
              </a:lnSpc>
              <a:buNone/>
            </a:pPr>
            <a:r>
              <a:rPr lang="en-US" sz="1150" dirty="0">
                <a:solidFill>
                  <a:srgbClr val="6C7599"/>
                </a:solidFill>
                <a:latin typeface="Calibri" pitchFamily="34" charset="0"/>
                <a:ea typeface="Calibri" pitchFamily="34" charset="-122"/>
                <a:cs typeface="Calibri" pitchFamily="34" charset="-120"/>
              </a:rPr>
              <a:t>Fine-tune Llama on historical rerouting decisions to close the reasoning gap and cut GPT-5 calls further.</a:t>
            </a:r>
            <a:endParaRPr lang="en-US" sz="1150" dirty="0"/>
          </a:p>
        </p:txBody>
      </p:sp>
      <p:sp>
        <p:nvSpPr>
          <p:cNvPr id="24" name="Text 19"/>
          <p:cNvSpPr/>
          <p:nvPr/>
        </p:nvSpPr>
        <p:spPr>
          <a:xfrm>
            <a:off x="457200" y="6547104"/>
            <a:ext cx="8229600" cy="256032"/>
          </a:xfrm>
          <a:prstGeom prst="rect">
            <a:avLst/>
          </a:prstGeom>
          <a:noFill/>
          <a:ln/>
        </p:spPr>
        <p:txBody>
          <a:bodyPr wrap="square" lIns="0" tIns="0" rIns="0" bIns="0" rtlCol="0" anchor="ctr"/>
          <a:lstStyle/>
          <a:p>
            <a:pPr indent="0" marL="0">
              <a:buNone/>
            </a:pPr>
            <a:r>
              <a:rPr lang="en-US" sz="850" spc="100" kern="0" dirty="0">
                <a:solidFill>
                  <a:srgbClr val="6C7599"/>
                </a:solidFill>
                <a:latin typeface="Calibri" pitchFamily="34" charset="0"/>
                <a:ea typeface="Calibri" pitchFamily="34" charset="-122"/>
                <a:cs typeface="Calibri" pitchFamily="34" charset="-120"/>
              </a:rPr>
              <a:t>AUTONOMOUS LOGISTICS REROUTING  |  AI RESEARCHER ASSESSMENT</a:t>
            </a:r>
            <a:endParaRPr lang="en-US" sz="850" dirty="0"/>
          </a:p>
        </p:txBody>
      </p:sp>
      <p:sp>
        <p:nvSpPr>
          <p:cNvPr id="25" name="Text 20"/>
          <p:cNvSpPr/>
          <p:nvPr/>
        </p:nvSpPr>
        <p:spPr>
          <a:xfrm>
            <a:off x="11430000" y="6547104"/>
            <a:ext cx="365760" cy="256032"/>
          </a:xfrm>
          <a:prstGeom prst="rect">
            <a:avLst/>
          </a:prstGeom>
          <a:noFill/>
          <a:ln/>
        </p:spPr>
        <p:txBody>
          <a:bodyPr wrap="square" lIns="0" tIns="0" rIns="0" bIns="0" rtlCol="0" anchor="ctr"/>
          <a:lstStyle/>
          <a:p>
            <a:pPr algn="r" indent="0" marL="0">
              <a:buNone/>
            </a:pPr>
            <a:r>
              <a:rPr lang="en-US" sz="850" dirty="0">
                <a:solidFill>
                  <a:srgbClr val="6C7599"/>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194560" y="4206240"/>
            <a:ext cx="5669280" cy="5669280"/>
          </a:xfrm>
          <a:prstGeom prst="ellipse">
            <a:avLst/>
          </a:prstGeom>
          <a:solidFill>
            <a:srgbClr val="141B49"/>
          </a:solidFill>
          <a:ln/>
        </p:spPr>
      </p:sp>
      <p:sp>
        <p:nvSpPr>
          <p:cNvPr id="3" name="Shape 1"/>
          <p:cNvSpPr/>
          <p:nvPr/>
        </p:nvSpPr>
        <p:spPr>
          <a:xfrm>
            <a:off x="9875520" y="-2377440"/>
            <a:ext cx="4937760" cy="4937760"/>
          </a:xfrm>
          <a:prstGeom prst="ellipse">
            <a:avLst/>
          </a:prstGeom>
          <a:solidFill>
            <a:srgbClr val="141B49"/>
          </a:solidFill>
          <a:ln/>
        </p:spPr>
      </p:sp>
      <p:sp>
        <p:nvSpPr>
          <p:cNvPr id="4" name="Shape 2"/>
          <p:cNvSpPr/>
          <p:nvPr/>
        </p:nvSpPr>
        <p:spPr>
          <a:xfrm>
            <a:off x="5276088" y="1965960"/>
            <a:ext cx="1645920" cy="1645920"/>
          </a:xfrm>
          <a:prstGeom prst="ellipse">
            <a:avLst/>
          </a:prstGeom>
          <a:solidFill>
            <a:srgbClr val="F2A93B"/>
          </a:solidFill>
          <a:ln/>
        </p:spPr>
      </p:sp>
      <p:pic>
        <p:nvPicPr>
          <p:cNvPr id="5" name="Image 0" descr="/home/claude/deck/assets/icons/thankyou.png">    </p:cNvPr>
          <p:cNvPicPr>
            <a:picLocks noChangeAspect="1"/>
          </p:cNvPicPr>
          <p:nvPr/>
        </p:nvPicPr>
        <p:blipFill>
          <a:blip r:embed="rId1"/>
          <a:stretch>
            <a:fillRect/>
          </a:stretch>
        </p:blipFill>
        <p:spPr>
          <a:xfrm>
            <a:off x="5641848" y="2331720"/>
            <a:ext cx="914400" cy="914400"/>
          </a:xfrm>
          <a:prstGeom prst="rect">
            <a:avLst/>
          </a:prstGeom>
        </p:spPr>
      </p:pic>
      <p:sp>
        <p:nvSpPr>
          <p:cNvPr id="6" name="Text 3"/>
          <p:cNvSpPr/>
          <p:nvPr/>
        </p:nvSpPr>
        <p:spPr>
          <a:xfrm>
            <a:off x="0" y="3794760"/>
            <a:ext cx="12188952"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7" name="Text 4"/>
          <p:cNvSpPr/>
          <p:nvPr/>
        </p:nvSpPr>
        <p:spPr>
          <a:xfrm>
            <a:off x="0" y="4526280"/>
            <a:ext cx="12188952" cy="457200"/>
          </a:xfrm>
          <a:prstGeom prst="rect">
            <a:avLst/>
          </a:prstGeom>
          <a:noFill/>
          <a:ln/>
        </p:spPr>
        <p:txBody>
          <a:bodyPr wrap="square" lIns="0" tIns="0" rIns="0" bIns="0" rtlCol="0" anchor="ctr"/>
          <a:lstStyle/>
          <a:p>
            <a:pPr algn="ctr" indent="0" marL="0">
              <a:buNone/>
            </a:pPr>
            <a:r>
              <a:rPr lang="en-US" sz="1600" i="1" dirty="0">
                <a:solidFill>
                  <a:srgbClr val="CADCFC"/>
                </a:solidFill>
                <a:latin typeface="Calibri" pitchFamily="34" charset="0"/>
                <a:ea typeface="Calibri" pitchFamily="34" charset="-122"/>
                <a:cs typeface="Calibri" pitchFamily="34" charset="-120"/>
              </a:rPr>
              <a:t>Questions &amp; Discussion</a:t>
            </a:r>
            <a:endParaRPr lang="en-US" sz="1600" dirty="0"/>
          </a:p>
        </p:txBody>
      </p:sp>
      <p:sp>
        <p:nvSpPr>
          <p:cNvPr id="8" name="Shape 5"/>
          <p:cNvSpPr/>
          <p:nvPr/>
        </p:nvSpPr>
        <p:spPr>
          <a:xfrm>
            <a:off x="5184648" y="5166360"/>
            <a:ext cx="1828800" cy="0"/>
          </a:xfrm>
          <a:prstGeom prst="line">
            <a:avLst/>
          </a:prstGeom>
          <a:noFill/>
          <a:ln w="19050">
            <a:solidFill>
              <a:srgbClr val="F2A93B"/>
            </a:solidFill>
            <a:prstDash val="solid"/>
          </a:ln>
        </p:spPr>
      </p:sp>
      <p:sp>
        <p:nvSpPr>
          <p:cNvPr id="9" name="Text 6"/>
          <p:cNvSpPr/>
          <p:nvPr/>
        </p:nvSpPr>
        <p:spPr>
          <a:xfrm>
            <a:off x="1371600" y="5349240"/>
            <a:ext cx="9445752" cy="457200"/>
          </a:xfrm>
          <a:prstGeom prst="rect">
            <a:avLst/>
          </a:prstGeom>
          <a:noFill/>
          <a:ln/>
        </p:spPr>
        <p:txBody>
          <a:bodyPr wrap="square" lIns="0" tIns="0" rIns="0" bIns="0" rtlCol="0" anchor="ctr"/>
          <a:lstStyle/>
          <a:p>
            <a:pPr algn="ctr" indent="0" marL="0">
              <a:buNone/>
            </a:pPr>
            <a:r>
              <a:rPr lang="en-US" sz="1250" dirty="0">
                <a:solidFill>
                  <a:srgbClr val="C9D2F0"/>
                </a:solidFill>
                <a:latin typeface="Calibri" pitchFamily="34" charset="0"/>
                <a:ea typeface="Calibri" pitchFamily="34" charset="-122"/>
                <a:cs typeface="Calibri" pitchFamily="34" charset="-120"/>
              </a:rPr>
              <a:t>Recommendation: deploy a hybrid GPT-5 / Llama 3.3 architecture, routed by decision risk</a:t>
            </a:r>
            <a:endParaRPr lang="en-US" sz="1250" dirty="0"/>
          </a:p>
        </p:txBody>
      </p:sp>
      <p:sp>
        <p:nvSpPr>
          <p:cNvPr id="10" name="Text 7"/>
          <p:cNvSpPr/>
          <p:nvPr/>
        </p:nvSpPr>
        <p:spPr>
          <a:xfrm>
            <a:off x="457200" y="6547104"/>
            <a:ext cx="8229600" cy="256032"/>
          </a:xfrm>
          <a:prstGeom prst="rect">
            <a:avLst/>
          </a:prstGeom>
          <a:noFill/>
          <a:ln/>
        </p:spPr>
        <p:txBody>
          <a:bodyPr wrap="square" lIns="0" tIns="0" rIns="0" bIns="0" rtlCol="0" anchor="ctr"/>
          <a:lstStyle/>
          <a:p>
            <a:pPr indent="0" marL="0">
              <a:buNone/>
            </a:pPr>
            <a:r>
              <a:rPr lang="en-US" sz="850" spc="100" kern="0" dirty="0">
                <a:solidFill>
                  <a:srgbClr val="8891C4"/>
                </a:solidFill>
                <a:latin typeface="Calibri" pitchFamily="34" charset="0"/>
                <a:ea typeface="Calibri" pitchFamily="34" charset="-122"/>
                <a:cs typeface="Calibri" pitchFamily="34" charset="-120"/>
              </a:rPr>
              <a:t>AUTONOMOUS LOGISTICS REROUTING  |  AI RESEARCHER ASSESSMENT</a:t>
            </a:r>
            <a:endParaRPr lang="en-US" sz="850" dirty="0"/>
          </a:p>
        </p:txBody>
      </p:sp>
      <p:sp>
        <p:nvSpPr>
          <p:cNvPr id="11" name="Text 8"/>
          <p:cNvSpPr/>
          <p:nvPr/>
        </p:nvSpPr>
        <p:spPr>
          <a:xfrm>
            <a:off x="11430000" y="6547104"/>
            <a:ext cx="365760" cy="256032"/>
          </a:xfrm>
          <a:prstGeom prst="rect">
            <a:avLst/>
          </a:prstGeom>
          <a:noFill/>
          <a:ln/>
        </p:spPr>
        <p:txBody>
          <a:bodyPr wrap="square" lIns="0" tIns="0" rIns="0" bIns="0" rtlCol="0" anchor="ctr"/>
          <a:lstStyle/>
          <a:p>
            <a:pPr algn="r" indent="0" marL="0">
              <a:buNone/>
            </a:pPr>
            <a:r>
              <a:rPr lang="en-US" sz="850" dirty="0">
                <a:solidFill>
                  <a:srgbClr val="8891C4"/>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2026-07-13T19:43:47Z</dcterms:created>
  <dcterms:modified xsi:type="dcterms:W3CDTF">2026-07-13T19:43:47Z</dcterms:modified>
</cp:coreProperties>
</file>